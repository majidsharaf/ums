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establishes the project's cultural significance and strategic positioning, setting the stage for the design vision by highlighting its proximity to the UNESCO site (Page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defines the core aesthetic drivers by linking specific traditional elements—mud-brick textures, earth tones, geometric patterns, courtyards, and Sharfat rooflines—to the project's role as a monument to Najdi heritage. The rationale for these choices is derived from the six-stage design evolution detailed on Page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defines the work boundaries and key deliverables as per Pages 14 and 16, covering all major physical assets from the welcome hall to the connectivity grid.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illustrates the spatial relationship between above-grade and below-grade assets, addressing functional requirements and site logistics as detailed on pages 16 and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highlights critical structural limits, distinguishing between the 107.5 KPA load for the G+3 structure and the 50.0 KPA load for On Grade areas, while confirming the flat accessible roof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outlines our environmental goals by committing to Gold-level certification across three key frameworks. These targets are driven by specific passive design and water conservation implementations, reinforcing our dedication to superior sustainability standards as detailed on Page 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translates the architectural vision into a human-scale experience, blending luxury, cultural heritage, and pedestrian comfort to honor the Najdi spirit.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clarifies the compliance landscape by identifying the specific regulatory bodies governing the P2 South Business Park. Approval is required from both the Ministry of Culture and Diriyah Development, with strict adherence to UNESCO guidelines necessitated by the site's location near At-Turaif.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demonstrates the rigor of the design process by showing how abstract massing matures into refined architectural details, specifically highlighting the shift to articulated facades with Najdi textures and courtyard definitions as detailed on Page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concludes the overview by validating the design vision against our dual mandate of heritage and sustainability. We must immediately address the open questions regarding dimensions and GSM protocols to proceed.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1B12"/>
        </a:solidFill>
      </p:bgPr>
    </p:bg>
    <p:spTree>
      <p:nvGrpSpPr>
        <p:cNvPr id="1" name=""/>
        <p:cNvGrpSpPr/>
        <p:nvPr/>
      </p:nvGrpSpPr>
      <p:grpSpPr>
        <a:xfrm>
          <a:off x="0" y="0"/>
          <a:ext cx="0" cy="0"/>
          <a:chOff x="0" y="0"/>
          <a:chExt cx="0" cy="0"/>
        </a:xfrm>
      </p:grpSpPr>
      <p:sp>
        <p:nvSpPr>
          <p:cNvPr id="2" name="Shape 0"/>
          <p:cNvSpPr/>
          <p:nvPr/>
        </p:nvSpPr>
        <p:spPr>
          <a:xfrm>
            <a:off x="548640" y="548640"/>
            <a:ext cx="100584" cy="130759"/>
          </a:xfrm>
          <a:prstGeom prst="triangle">
            <a:avLst/>
          </a:prstGeom>
          <a:solidFill>
            <a:srgbClr val="B85042"/>
          </a:solidFill>
          <a:ln/>
        </p:spPr>
      </p:sp>
      <p:sp>
        <p:nvSpPr>
          <p:cNvPr id="3" name="Shape 1"/>
          <p:cNvSpPr/>
          <p:nvPr/>
        </p:nvSpPr>
        <p:spPr>
          <a:xfrm>
            <a:off x="676656" y="548640"/>
            <a:ext cx="100584" cy="130759"/>
          </a:xfrm>
          <a:prstGeom prst="triangle">
            <a:avLst/>
          </a:prstGeom>
          <a:solidFill>
            <a:srgbClr val="B85042"/>
          </a:solidFill>
          <a:ln/>
        </p:spPr>
      </p:sp>
      <p:sp>
        <p:nvSpPr>
          <p:cNvPr id="4" name="Shape 2"/>
          <p:cNvSpPr/>
          <p:nvPr/>
        </p:nvSpPr>
        <p:spPr>
          <a:xfrm>
            <a:off x="804672" y="548640"/>
            <a:ext cx="100584" cy="130759"/>
          </a:xfrm>
          <a:prstGeom prst="triangle">
            <a:avLst/>
          </a:prstGeom>
          <a:solidFill>
            <a:srgbClr val="B85042"/>
          </a:solidFill>
          <a:ln/>
        </p:spPr>
      </p:sp>
      <p:sp>
        <p:nvSpPr>
          <p:cNvPr id="5" name="Shape 3"/>
          <p:cNvSpPr/>
          <p:nvPr/>
        </p:nvSpPr>
        <p:spPr>
          <a:xfrm>
            <a:off x="932688" y="548640"/>
            <a:ext cx="100584" cy="130759"/>
          </a:xfrm>
          <a:prstGeom prst="triangle">
            <a:avLst/>
          </a:prstGeom>
          <a:solidFill>
            <a:srgbClr val="B85042"/>
          </a:solidFill>
          <a:ln/>
        </p:spPr>
      </p:sp>
      <p:sp>
        <p:nvSpPr>
          <p:cNvPr id="6" name="Shape 4"/>
          <p:cNvSpPr/>
          <p:nvPr/>
        </p:nvSpPr>
        <p:spPr>
          <a:xfrm>
            <a:off x="1060704" y="548640"/>
            <a:ext cx="100584" cy="130759"/>
          </a:xfrm>
          <a:prstGeom prst="triangle">
            <a:avLst/>
          </a:prstGeom>
          <a:solidFill>
            <a:srgbClr val="B85042"/>
          </a:solidFill>
          <a:ln/>
        </p:spPr>
      </p:sp>
      <p:sp>
        <p:nvSpPr>
          <p:cNvPr id="7" name="Shape 5"/>
          <p:cNvSpPr/>
          <p:nvPr/>
        </p:nvSpPr>
        <p:spPr>
          <a:xfrm>
            <a:off x="1188720" y="548640"/>
            <a:ext cx="100584" cy="130759"/>
          </a:xfrm>
          <a:prstGeom prst="triangle">
            <a:avLst/>
          </a:prstGeom>
          <a:solidFill>
            <a:srgbClr val="B85042"/>
          </a:solidFill>
          <a:ln/>
        </p:spPr>
      </p:sp>
      <p:sp>
        <p:nvSpPr>
          <p:cNvPr id="8" name="Text 6"/>
          <p:cNvSpPr txBox="1"/>
          <p:nvPr/>
        </p:nvSpPr>
        <p:spPr>
          <a:xfrm>
            <a:off x="548640" y="1920240"/>
            <a:ext cx="11064240" cy="914400"/>
          </a:xfrm>
          <a:prstGeom prst="rect">
            <a:avLst/>
          </a:prstGeom>
          <a:noFill/>
          <a:ln/>
        </p:spPr>
        <p:txBody>
          <a:bodyPr wrap="square" lIns="0" tIns="0" rIns="0" bIns="0" rtlCol="0" anchor="ctr"/>
          <a:lstStyle/>
          <a:p>
            <a:pPr algn="l" indent="0" marL="0">
              <a:buNone/>
            </a:pPr>
            <a:r>
              <a:rPr lang="en-US" sz="4000" b="1" dirty="0">
                <a:solidFill>
                  <a:srgbClr val="FBF7F2"/>
                </a:solidFill>
                <a:latin typeface="Cambria" pitchFamily="34" charset="0"/>
                <a:ea typeface="Cambria" pitchFamily="34" charset="-122"/>
                <a:cs typeface="Cambria" pitchFamily="34" charset="-120"/>
              </a:rPr>
              <a:t>P2 SOUTH BUSINESS PARK</a:t>
            </a:r>
            <a:endParaRPr lang="en-US" sz="4000" dirty="0"/>
          </a:p>
        </p:txBody>
      </p:sp>
      <p:sp>
        <p:nvSpPr>
          <p:cNvPr id="9" name="Text 7"/>
          <p:cNvSpPr txBox="1"/>
          <p:nvPr/>
        </p:nvSpPr>
        <p:spPr>
          <a:xfrm>
            <a:off x="548640" y="2697480"/>
            <a:ext cx="11064240" cy="548640"/>
          </a:xfrm>
          <a:prstGeom prst="rect">
            <a:avLst/>
          </a:prstGeom>
          <a:noFill/>
          <a:ln/>
        </p:spPr>
        <p:txBody>
          <a:bodyPr wrap="square" lIns="0" tIns="0" rIns="0" bIns="0" rtlCol="0" anchor="ctr"/>
          <a:lstStyle/>
          <a:p>
            <a:pPr algn="l" indent="0" marL="0">
              <a:buNone/>
            </a:pPr>
            <a:r>
              <a:rPr lang="en-US" sz="2000" dirty="0">
                <a:solidFill>
                  <a:srgbClr val="F2E9DD"/>
                </a:solidFill>
                <a:latin typeface="Calibri" pitchFamily="34" charset="0"/>
                <a:ea typeface="Calibri" pitchFamily="34" charset="-122"/>
                <a:cs typeface="Calibri" pitchFamily="34" charset="-120"/>
              </a:rPr>
              <a:t>Design Vision &amp; Concept Overview</a:t>
            </a:r>
            <a:endParaRPr lang="en-US" sz="2000" dirty="0"/>
          </a:p>
        </p:txBody>
      </p:sp>
      <p:sp>
        <p:nvSpPr>
          <p:cNvPr id="10" name="Text 8"/>
          <p:cNvSpPr txBox="1"/>
          <p:nvPr/>
        </p:nvSpPr>
        <p:spPr>
          <a:xfrm>
            <a:off x="548640" y="3657600"/>
            <a:ext cx="8961120" cy="1463040"/>
          </a:xfrm>
          <a:prstGeom prst="rect">
            <a:avLst/>
          </a:prstGeom>
          <a:noFill/>
          <a:ln/>
        </p:spPr>
        <p:txBody>
          <a:bodyPr wrap="square" lIns="0" tIns="0" rIns="0" bIns="0" rtlCol="0" anchor="t"/>
          <a:lstStyle/>
          <a:p>
            <a:pPr algn="l" indent="0" marL="0">
              <a:lnSpc>
                <a:spcPct val="130000"/>
              </a:lnSpc>
              <a:buNone/>
            </a:pPr>
            <a:r>
              <a:rPr lang="en-US" sz="1300" dirty="0">
                <a:solidFill>
                  <a:srgbClr val="F2E9DD"/>
                </a:solidFill>
                <a:latin typeface="Calibri" pitchFamily="34" charset="0"/>
                <a:ea typeface="Calibri" pitchFamily="34" charset="-122"/>
                <a:cs typeface="Calibri" pitchFamily="34" charset="-120"/>
              </a:rPr>
              <a:t>The P2 South Business Park is a commercial development near the At-Turaif UNESCO heritage site, designed as a monument to Najdi architectural spirit. It integrates modern infrastructure (multi-level parking, GSM towers) with traditional aesthetics (mud-brick, courtyards, Sharfat). The project targets Gold-level sustainability certifications (LEED, SITES, MOSTADAM).</a:t>
            </a:r>
            <a:endParaRPr lang="en-US" sz="1300" dirty="0"/>
          </a:p>
        </p:txBody>
      </p:sp>
      <p:sp>
        <p:nvSpPr>
          <p:cNvPr id="11" name="Text 9"/>
          <p:cNvSpPr txBox="1"/>
          <p:nvPr/>
        </p:nvSpPr>
        <p:spPr>
          <a:xfrm>
            <a:off x="548640" y="6309360"/>
            <a:ext cx="7315200" cy="365760"/>
          </a:xfrm>
          <a:prstGeom prst="rect">
            <a:avLst/>
          </a:prstGeom>
          <a:noFill/>
          <a:ln/>
        </p:spPr>
        <p:txBody>
          <a:bodyPr wrap="square" lIns="0" tIns="0" rIns="0" bIns="0" rtlCol="0" anchor="ctr"/>
          <a:lstStyle/>
          <a:p>
            <a:pPr indent="0" marL="0">
              <a:buNone/>
            </a:pPr>
            <a:r>
              <a:rPr lang="en-US" sz="1100" i="1" dirty="0">
                <a:solidFill>
                  <a:srgbClr val="8FA998"/>
                </a:solidFill>
                <a:latin typeface="Calibri" pitchFamily="34" charset="0"/>
                <a:ea typeface="Calibri" pitchFamily="34" charset="-122"/>
                <a:cs typeface="Calibri" pitchFamily="34" charset="-120"/>
              </a:rPr>
              <a:t>Historic Diriyah  |  Events District</a:t>
            </a:r>
            <a:endParaRPr lang="en-US" sz="1100" dirty="0"/>
          </a:p>
        </p:txBody>
      </p:sp>
      <p:sp>
        <p:nvSpPr>
          <p:cNvPr id="12" name="Text 10"/>
          <p:cNvSpPr txBox="1"/>
          <p:nvPr/>
        </p:nvSpPr>
        <p:spPr>
          <a:xfrm>
            <a:off x="9966960" y="6309360"/>
            <a:ext cx="1645920" cy="365760"/>
          </a:xfrm>
          <a:prstGeom prst="rect">
            <a:avLst/>
          </a:prstGeom>
          <a:noFill/>
          <a:ln/>
        </p:spPr>
        <p:txBody>
          <a:bodyPr wrap="square" lIns="0" tIns="0" rIns="0" bIns="0" rtlCol="0" anchor="ctr"/>
          <a:lstStyle/>
          <a:p>
            <a:pPr algn="r" indent="0" marL="0">
              <a:buNone/>
            </a:pPr>
            <a:r>
              <a:rPr lang="en-US" sz="1000" b="1" spc="200" kern="0" dirty="0">
                <a:solidFill>
                  <a:srgbClr val="B85042"/>
                </a:solidFill>
                <a:latin typeface="Calibri" pitchFamily="34" charset="0"/>
                <a:ea typeface="Calibri" pitchFamily="34" charset="-122"/>
                <a:cs typeface="Calibri" pitchFamily="34" charset="-120"/>
              </a:rPr>
              <a:t>INTERNAL TEAM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7F2"/>
        </a:solidFill>
      </p:bgPr>
    </p:bg>
    <p:spTree>
      <p:nvGrpSpPr>
        <p:cNvPr id="1" name=""/>
        <p:cNvGrpSpPr/>
        <p:nvPr/>
      </p:nvGrpSpPr>
      <p:grpSpPr>
        <a:xfrm>
          <a:off x="0" y="0"/>
          <a:ext cx="0" cy="0"/>
          <a:chOff x="0" y="0"/>
          <a:chExt cx="0" cy="0"/>
        </a:xfrm>
      </p:grpSpPr>
      <p:sp>
        <p:nvSpPr>
          <p:cNvPr id="2" name="Text 0"/>
          <p:cNvSpPr txBox="1"/>
          <p:nvPr/>
        </p:nvSpPr>
        <p:spPr>
          <a:xfrm>
            <a:off x="548640" y="411480"/>
            <a:ext cx="1097280" cy="457200"/>
          </a:xfrm>
          <a:prstGeom prst="rect">
            <a:avLst/>
          </a:prstGeom>
          <a:noFill/>
          <a:ln/>
        </p:spPr>
        <p:txBody>
          <a:bodyPr wrap="square" lIns="0" tIns="0" rIns="0" bIns="0" rtlCol="0" anchor="ctr"/>
          <a:lstStyle/>
          <a:p>
            <a:pPr indent="0" marL="0">
              <a:buNone/>
            </a:pPr>
            <a:r>
              <a:rPr lang="en-US" sz="1400" b="1" dirty="0">
                <a:solidFill>
                  <a:srgbClr val="8FA998"/>
                </a:solidFill>
                <a:latin typeface="Cambria" pitchFamily="34" charset="0"/>
                <a:ea typeface="Cambria" pitchFamily="34" charset="-122"/>
                <a:cs typeface="Cambria" pitchFamily="34" charset="-120"/>
              </a:rPr>
              <a:t>01</a:t>
            </a:r>
            <a:endParaRPr lang="en-US" sz="1400" dirty="0"/>
          </a:p>
        </p:txBody>
      </p:sp>
      <p:sp>
        <p:nvSpPr>
          <p:cNvPr id="3" name="Text 1"/>
          <p:cNvSpPr txBox="1"/>
          <p:nvPr/>
        </p:nvSpPr>
        <p:spPr>
          <a:xfrm>
            <a:off x="548640" y="777240"/>
            <a:ext cx="10881360" cy="777240"/>
          </a:xfrm>
          <a:prstGeom prst="rect">
            <a:avLst/>
          </a:prstGeom>
          <a:noFill/>
          <a:ln/>
        </p:spPr>
        <p:txBody>
          <a:bodyPr wrap="square" lIns="0" tIns="0" rIns="0" bIns="0" rtlCol="0" anchor="ctr"/>
          <a:lstStyle/>
          <a:p>
            <a:pPr indent="0" marL="0">
              <a:buNone/>
            </a:pPr>
            <a:r>
              <a:rPr lang="en-US" sz="3000" b="1" dirty="0">
                <a:solidFill>
                  <a:srgbClr val="2B1B12"/>
                </a:solidFill>
                <a:latin typeface="Cambria" pitchFamily="34" charset="0"/>
                <a:ea typeface="Cambria" pitchFamily="34" charset="-122"/>
                <a:cs typeface="Cambria" pitchFamily="34" charset="-120"/>
              </a:rPr>
              <a:t>Project Overview &amp; Context</a:t>
            </a:r>
            <a:endParaRPr lang="en-US" sz="3000" dirty="0"/>
          </a:p>
        </p:txBody>
      </p:sp>
      <p:sp>
        <p:nvSpPr>
          <p:cNvPr id="4" name="Shape 2"/>
          <p:cNvSpPr/>
          <p:nvPr/>
        </p:nvSpPr>
        <p:spPr>
          <a:xfrm>
            <a:off x="11064240" y="502920"/>
            <a:ext cx="100584" cy="130759"/>
          </a:xfrm>
          <a:prstGeom prst="triangle">
            <a:avLst/>
          </a:prstGeom>
          <a:solidFill>
            <a:srgbClr val="B85042"/>
          </a:solidFill>
          <a:ln/>
        </p:spPr>
      </p:sp>
      <p:sp>
        <p:nvSpPr>
          <p:cNvPr id="5" name="Shape 3"/>
          <p:cNvSpPr/>
          <p:nvPr/>
        </p:nvSpPr>
        <p:spPr>
          <a:xfrm>
            <a:off x="11192256" y="502920"/>
            <a:ext cx="100584" cy="130759"/>
          </a:xfrm>
          <a:prstGeom prst="triangle">
            <a:avLst/>
          </a:prstGeom>
          <a:solidFill>
            <a:srgbClr val="B85042"/>
          </a:solidFill>
          <a:ln/>
        </p:spPr>
      </p:sp>
      <p:sp>
        <p:nvSpPr>
          <p:cNvPr id="6" name="Shape 4"/>
          <p:cNvSpPr/>
          <p:nvPr/>
        </p:nvSpPr>
        <p:spPr>
          <a:xfrm>
            <a:off x="11320272" y="502920"/>
            <a:ext cx="100584" cy="130759"/>
          </a:xfrm>
          <a:prstGeom prst="triangle">
            <a:avLst/>
          </a:prstGeom>
          <a:solidFill>
            <a:srgbClr val="B85042"/>
          </a:solidFill>
          <a:ln/>
        </p:spPr>
      </p:sp>
      <p:sp>
        <p:nvSpPr>
          <p:cNvPr id="7" name="Text 5"/>
          <p:cNvSpPr txBox="1"/>
          <p:nvPr/>
        </p:nvSpPr>
        <p:spPr>
          <a:xfrm>
            <a:off x="548640" y="1920240"/>
            <a:ext cx="6675120" cy="3657600"/>
          </a:xfrm>
          <a:prstGeom prst="rect">
            <a:avLst/>
          </a:prstGeom>
          <a:noFill/>
          <a:ln/>
        </p:spPr>
        <p:txBody>
          <a:bodyPr wrap="square" lIns="0" tIns="0" rIns="0" bIns="0" rtlCol="0" anchor="t"/>
          <a:lstStyle/>
          <a:p>
            <a:pPr marL="228600" indent="-228600">
              <a:spcAft>
                <a:spcPts val="1400"/>
              </a:spcAft>
              <a:buSzPct val="100000"/>
              <a:buChar char="▪"/>
            </a:pPr>
            <a:r>
              <a:rPr lang="en-US" sz="1500" dirty="0">
                <a:solidFill>
                  <a:srgbClr val="2B1B12"/>
                </a:solidFill>
                <a:latin typeface="Calibri" pitchFamily="34" charset="0"/>
                <a:ea typeface="Calibri" pitchFamily="34" charset="-122"/>
                <a:cs typeface="Calibri" pitchFamily="34" charset="-120"/>
              </a:rPr>
              <a:t>Strategically located within the Diriyah Development near the At-Turaif UNESCO heritage site.</a:t>
            </a:r>
            <a:endParaRPr lang="en-US" sz="1500" dirty="0"/>
          </a:p>
          <a:p>
            <a:pPr marL="228600" indent="-228600">
              <a:spcAft>
                <a:spcPts val="1400"/>
              </a:spcAft>
              <a:buSzPct val="100000"/>
              <a:buChar char="▪"/>
            </a:pPr>
            <a:r>
              <a:rPr lang="en-US" sz="1500" dirty="0">
                <a:solidFill>
                  <a:srgbClr val="2B1B12"/>
                </a:solidFill>
                <a:latin typeface="Calibri" pitchFamily="34" charset="0"/>
                <a:ea typeface="Calibri" pitchFamily="34" charset="-122"/>
                <a:cs typeface="Calibri" pitchFamily="34" charset="-120"/>
              </a:rPr>
              <a:t>Serves as a monument celebrating the spirit of Najdi architecture.</a:t>
            </a:r>
            <a:endParaRPr lang="en-US" sz="1500" dirty="0"/>
          </a:p>
        </p:txBody>
      </p:sp>
      <p:sp>
        <p:nvSpPr>
          <p:cNvPr id="8" name="Shape 6"/>
          <p:cNvSpPr/>
          <p:nvPr/>
        </p:nvSpPr>
        <p:spPr>
          <a:xfrm>
            <a:off x="7589520" y="1920240"/>
            <a:ext cx="4023360" cy="3657600"/>
          </a:xfrm>
          <a:prstGeom prst="roundRect">
            <a:avLst>
              <a:gd name="adj" fmla="val 3000"/>
            </a:avLst>
          </a:prstGeom>
          <a:solidFill>
            <a:srgbClr val="2B1B12"/>
          </a:solidFill>
          <a:ln/>
        </p:spPr>
      </p:sp>
      <p:sp>
        <p:nvSpPr>
          <p:cNvPr id="9" name="Text 7"/>
          <p:cNvSpPr txBox="1"/>
          <p:nvPr/>
        </p:nvSpPr>
        <p:spPr>
          <a:xfrm>
            <a:off x="7863840" y="2194560"/>
            <a:ext cx="3474720" cy="365760"/>
          </a:xfrm>
          <a:prstGeom prst="rect">
            <a:avLst/>
          </a:prstGeom>
          <a:noFill/>
          <a:ln/>
        </p:spPr>
        <p:txBody>
          <a:bodyPr wrap="square" lIns="0" tIns="0" rIns="0" bIns="0" rtlCol="0" anchor="ctr"/>
          <a:lstStyle/>
          <a:p>
            <a:pPr indent="0" marL="0">
              <a:buNone/>
            </a:pPr>
            <a:r>
              <a:rPr lang="en-US" sz="1100" b="1" spc="200" kern="0" dirty="0">
                <a:solidFill>
                  <a:srgbClr val="B85042"/>
                </a:solidFill>
                <a:latin typeface="Calibri" pitchFamily="34" charset="0"/>
                <a:ea typeface="Calibri" pitchFamily="34" charset="-122"/>
                <a:cs typeface="Calibri" pitchFamily="34" charset="-120"/>
              </a:rPr>
              <a:t>SITE CONTEXT</a:t>
            </a:r>
            <a:endParaRPr lang="en-US" sz="1100" dirty="0"/>
          </a:p>
        </p:txBody>
      </p:sp>
      <p:sp>
        <p:nvSpPr>
          <p:cNvPr id="10" name="Text 8"/>
          <p:cNvSpPr txBox="1"/>
          <p:nvPr/>
        </p:nvSpPr>
        <p:spPr>
          <a:xfrm>
            <a:off x="7863840" y="2651760"/>
            <a:ext cx="3474720" cy="1005840"/>
          </a:xfrm>
          <a:prstGeom prst="rect">
            <a:avLst/>
          </a:prstGeom>
          <a:noFill/>
          <a:ln/>
        </p:spPr>
        <p:txBody>
          <a:bodyPr wrap="square" lIns="0" tIns="0" rIns="0" bIns="0" rtlCol="0" anchor="ctr"/>
          <a:lstStyle/>
          <a:p>
            <a:pPr indent="0" marL="0">
              <a:lnSpc>
                <a:spcPct val="110000"/>
              </a:lnSpc>
              <a:buNone/>
            </a:pPr>
            <a:r>
              <a:rPr lang="en-US" sz="2200" b="1" dirty="0">
                <a:solidFill>
                  <a:srgbClr val="FBF7F2"/>
                </a:solidFill>
                <a:latin typeface="Cambria" pitchFamily="34" charset="0"/>
                <a:ea typeface="Cambria" pitchFamily="34" charset="-122"/>
                <a:cs typeface="Cambria" pitchFamily="34" charset="-120"/>
              </a:rPr>
              <a:t>At-Turaif</a:t>
            </a:r>
            <a:endParaRPr lang="en-US" sz="2200" dirty="0"/>
          </a:p>
          <a:p>
            <a:pPr indent="0" marL="0">
              <a:lnSpc>
                <a:spcPct val="110000"/>
              </a:lnSpc>
              <a:buNone/>
            </a:pPr>
            <a:r>
              <a:rPr lang="en-US" sz="2200" b="1" dirty="0">
                <a:solidFill>
                  <a:srgbClr val="FBF7F2"/>
                </a:solidFill>
                <a:latin typeface="Cambria" pitchFamily="34" charset="0"/>
                <a:ea typeface="Cambria" pitchFamily="34" charset="-122"/>
                <a:cs typeface="Cambria" pitchFamily="34" charset="-120"/>
              </a:rPr>
              <a:t>UNESCO Site</a:t>
            </a:r>
            <a:endParaRPr lang="en-US" sz="2200" dirty="0"/>
          </a:p>
        </p:txBody>
      </p:sp>
      <p:sp>
        <p:nvSpPr>
          <p:cNvPr id="11" name="Text 9"/>
          <p:cNvSpPr txBox="1"/>
          <p:nvPr/>
        </p:nvSpPr>
        <p:spPr>
          <a:xfrm>
            <a:off x="7863840" y="3840480"/>
            <a:ext cx="3474720" cy="1463040"/>
          </a:xfrm>
          <a:prstGeom prst="rect">
            <a:avLst/>
          </a:prstGeom>
          <a:noFill/>
          <a:ln/>
        </p:spPr>
        <p:txBody>
          <a:bodyPr wrap="square" lIns="0" tIns="0" rIns="0" bIns="0" rtlCol="0" anchor="ctr"/>
          <a:lstStyle/>
          <a:p>
            <a:pPr indent="0" marL="0">
              <a:lnSpc>
                <a:spcPct val="130000"/>
              </a:lnSpc>
              <a:buNone/>
            </a:pPr>
            <a:r>
              <a:rPr lang="en-US" sz="1200" dirty="0">
                <a:solidFill>
                  <a:srgbClr val="F2E9DD"/>
                </a:solidFill>
                <a:latin typeface="Calibri" pitchFamily="34" charset="0"/>
                <a:ea typeface="Calibri" pitchFamily="34" charset="-122"/>
                <a:cs typeface="Calibri" pitchFamily="34" charset="-120"/>
              </a:rPr>
              <a:t>Diriyah Development — Events District, part of the walkable Diriyah I master plan.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7F2"/>
        </a:solidFill>
      </p:bgPr>
    </p:bg>
    <p:spTree>
      <p:nvGrpSpPr>
        <p:cNvPr id="1" name=""/>
        <p:cNvGrpSpPr/>
        <p:nvPr/>
      </p:nvGrpSpPr>
      <p:grpSpPr>
        <a:xfrm>
          <a:off x="0" y="0"/>
          <a:ext cx="0" cy="0"/>
          <a:chOff x="0" y="0"/>
          <a:chExt cx="0" cy="0"/>
        </a:xfrm>
      </p:grpSpPr>
      <p:sp>
        <p:nvSpPr>
          <p:cNvPr id="2" name="Text 0"/>
          <p:cNvSpPr txBox="1"/>
          <p:nvPr/>
        </p:nvSpPr>
        <p:spPr>
          <a:xfrm>
            <a:off x="548640" y="411480"/>
            <a:ext cx="1097280" cy="457200"/>
          </a:xfrm>
          <a:prstGeom prst="rect">
            <a:avLst/>
          </a:prstGeom>
          <a:noFill/>
          <a:ln/>
        </p:spPr>
        <p:txBody>
          <a:bodyPr wrap="square" lIns="0" tIns="0" rIns="0" bIns="0" rtlCol="0" anchor="ctr"/>
          <a:lstStyle/>
          <a:p>
            <a:pPr indent="0" marL="0">
              <a:buNone/>
            </a:pPr>
            <a:r>
              <a:rPr lang="en-US" sz="1400" b="1" dirty="0">
                <a:solidFill>
                  <a:srgbClr val="8FA998"/>
                </a:solidFill>
                <a:latin typeface="Cambria" pitchFamily="34" charset="0"/>
                <a:ea typeface="Cambria" pitchFamily="34" charset="-122"/>
                <a:cs typeface="Cambria" pitchFamily="34" charset="-120"/>
              </a:rPr>
              <a:t>02</a:t>
            </a:r>
            <a:endParaRPr lang="en-US" sz="1400" dirty="0"/>
          </a:p>
        </p:txBody>
      </p:sp>
      <p:sp>
        <p:nvSpPr>
          <p:cNvPr id="3" name="Text 1"/>
          <p:cNvSpPr txBox="1"/>
          <p:nvPr/>
        </p:nvSpPr>
        <p:spPr>
          <a:xfrm>
            <a:off x="548640" y="777240"/>
            <a:ext cx="10881360" cy="777240"/>
          </a:xfrm>
          <a:prstGeom prst="rect">
            <a:avLst/>
          </a:prstGeom>
          <a:noFill/>
          <a:ln/>
        </p:spPr>
        <p:txBody>
          <a:bodyPr wrap="square" lIns="0" tIns="0" rIns="0" bIns="0" rtlCol="0" anchor="ctr"/>
          <a:lstStyle/>
          <a:p>
            <a:pPr indent="0" marL="0">
              <a:buNone/>
            </a:pPr>
            <a:r>
              <a:rPr lang="en-US" sz="3000" b="1" dirty="0">
                <a:solidFill>
                  <a:srgbClr val="2B1B12"/>
                </a:solidFill>
                <a:latin typeface="Cambria" pitchFamily="34" charset="0"/>
                <a:ea typeface="Cambria" pitchFamily="34" charset="-122"/>
                <a:cs typeface="Cambria" pitchFamily="34" charset="-120"/>
              </a:rPr>
              <a:t>Architectural Vision: The Najdi Spirit</a:t>
            </a:r>
            <a:endParaRPr lang="en-US" sz="3000" dirty="0"/>
          </a:p>
        </p:txBody>
      </p:sp>
      <p:sp>
        <p:nvSpPr>
          <p:cNvPr id="4" name="Shape 2"/>
          <p:cNvSpPr/>
          <p:nvPr/>
        </p:nvSpPr>
        <p:spPr>
          <a:xfrm>
            <a:off x="11064240" y="502920"/>
            <a:ext cx="100584" cy="130759"/>
          </a:xfrm>
          <a:prstGeom prst="triangle">
            <a:avLst/>
          </a:prstGeom>
          <a:solidFill>
            <a:srgbClr val="B85042"/>
          </a:solidFill>
          <a:ln/>
        </p:spPr>
      </p:sp>
      <p:sp>
        <p:nvSpPr>
          <p:cNvPr id="5" name="Shape 3"/>
          <p:cNvSpPr/>
          <p:nvPr/>
        </p:nvSpPr>
        <p:spPr>
          <a:xfrm>
            <a:off x="11192256" y="502920"/>
            <a:ext cx="100584" cy="130759"/>
          </a:xfrm>
          <a:prstGeom prst="triangle">
            <a:avLst/>
          </a:prstGeom>
          <a:solidFill>
            <a:srgbClr val="B85042"/>
          </a:solidFill>
          <a:ln/>
        </p:spPr>
      </p:sp>
      <p:sp>
        <p:nvSpPr>
          <p:cNvPr id="6" name="Shape 4"/>
          <p:cNvSpPr/>
          <p:nvPr/>
        </p:nvSpPr>
        <p:spPr>
          <a:xfrm>
            <a:off x="11320272" y="502920"/>
            <a:ext cx="100584" cy="130759"/>
          </a:xfrm>
          <a:prstGeom prst="triangle">
            <a:avLst/>
          </a:prstGeom>
          <a:solidFill>
            <a:srgbClr val="B85042"/>
          </a:solidFill>
          <a:ln/>
        </p:spPr>
      </p:sp>
      <p:sp>
        <p:nvSpPr>
          <p:cNvPr id="7" name="Shape 5"/>
          <p:cNvSpPr/>
          <p:nvPr/>
        </p:nvSpPr>
        <p:spPr>
          <a:xfrm>
            <a:off x="548640" y="1965960"/>
            <a:ext cx="5257800" cy="1600200"/>
          </a:xfrm>
          <a:prstGeom prst="roundRect">
            <a:avLst>
              <a:gd name="adj" fmla="val 5714"/>
            </a:avLst>
          </a:prstGeom>
          <a:solidFill>
            <a:srgbClr val="F2E9DD"/>
          </a:solidFill>
          <a:ln/>
        </p:spPr>
      </p:sp>
      <p:sp>
        <p:nvSpPr>
          <p:cNvPr id="8" name="Shape 6"/>
          <p:cNvSpPr/>
          <p:nvPr/>
        </p:nvSpPr>
        <p:spPr>
          <a:xfrm>
            <a:off x="822960" y="2240280"/>
            <a:ext cx="502920" cy="502920"/>
          </a:xfrm>
          <a:prstGeom prst="oval">
            <a:avLst/>
          </a:prstGeom>
          <a:solidFill>
            <a:srgbClr val="B85042"/>
          </a:solidFill>
          <a:ln/>
        </p:spPr>
      </p:sp>
      <p:sp>
        <p:nvSpPr>
          <p:cNvPr id="9" name="Text 7"/>
          <p:cNvSpPr txBox="1"/>
          <p:nvPr/>
        </p:nvSpPr>
        <p:spPr>
          <a:xfrm>
            <a:off x="822960" y="2240280"/>
            <a:ext cx="502920" cy="502920"/>
          </a:xfrm>
          <a:prstGeom prst="rect">
            <a:avLst/>
          </a:prstGeom>
          <a:noFill/>
          <a:ln/>
        </p:spPr>
        <p:txBody>
          <a:bodyPr wrap="square" lIns="0" tIns="0" rIns="0" bIns="0" rtlCol="0" anchor="ctr"/>
          <a:lstStyle/>
          <a:p>
            <a:pPr algn="ctr" indent="0" marL="0">
              <a:buNone/>
            </a:pPr>
            <a:r>
              <a:rPr lang="en-US" sz="1800" b="1" dirty="0">
                <a:solidFill>
                  <a:srgbClr val="FBF7F2"/>
                </a:solidFill>
                <a:latin typeface="Cambria" pitchFamily="34" charset="0"/>
                <a:ea typeface="Cambria" pitchFamily="34" charset="-122"/>
                <a:cs typeface="Cambria" pitchFamily="34" charset="-120"/>
              </a:rPr>
              <a:t>1</a:t>
            </a:r>
            <a:endParaRPr lang="en-US" sz="1800" dirty="0"/>
          </a:p>
        </p:txBody>
      </p:sp>
      <p:sp>
        <p:nvSpPr>
          <p:cNvPr id="10" name="Text 8"/>
          <p:cNvSpPr txBox="1"/>
          <p:nvPr/>
        </p:nvSpPr>
        <p:spPr>
          <a:xfrm>
            <a:off x="1508760" y="2167128"/>
            <a:ext cx="4023360" cy="457200"/>
          </a:xfrm>
          <a:prstGeom prst="rect">
            <a:avLst/>
          </a:prstGeom>
          <a:noFill/>
          <a:ln/>
        </p:spPr>
        <p:txBody>
          <a:bodyPr wrap="square" lIns="0" tIns="0" rIns="0" bIns="0" rtlCol="0" anchor="ctr"/>
          <a:lstStyle/>
          <a:p>
            <a:pPr indent="0" marL="0">
              <a:buNone/>
            </a:pPr>
            <a:r>
              <a:rPr lang="en-US" sz="1500" b="1" dirty="0">
                <a:solidFill>
                  <a:srgbClr val="2B1B12"/>
                </a:solidFill>
                <a:latin typeface="Cambria" pitchFamily="34" charset="0"/>
                <a:ea typeface="Cambria" pitchFamily="34" charset="-122"/>
                <a:cs typeface="Cambria" pitchFamily="34" charset="-120"/>
              </a:rPr>
              <a:t>Mud-brick &amp; Earth Tones</a:t>
            </a:r>
            <a:endParaRPr lang="en-US" sz="1500" dirty="0"/>
          </a:p>
        </p:txBody>
      </p:sp>
      <p:sp>
        <p:nvSpPr>
          <p:cNvPr id="11" name="Text 9"/>
          <p:cNvSpPr txBox="1"/>
          <p:nvPr/>
        </p:nvSpPr>
        <p:spPr>
          <a:xfrm>
            <a:off x="1508760" y="2624328"/>
            <a:ext cx="4023360" cy="822960"/>
          </a:xfrm>
          <a:prstGeom prst="rect">
            <a:avLst/>
          </a:prstGeom>
          <a:noFill/>
          <a:ln/>
        </p:spPr>
        <p:txBody>
          <a:bodyPr wrap="square" lIns="0" tIns="0" rIns="0" bIns="0" rtlCol="0" anchor="ctr"/>
          <a:lstStyle/>
          <a:p>
            <a:pPr indent="0" marL="0">
              <a:lnSpc>
                <a:spcPct val="120000"/>
              </a:lnSpc>
              <a:buNone/>
            </a:pPr>
            <a:r>
              <a:rPr lang="en-US" sz="1150" dirty="0">
                <a:solidFill>
                  <a:srgbClr val="2B1B12"/>
                </a:solidFill>
                <a:latin typeface="Calibri" pitchFamily="34" charset="0"/>
                <a:ea typeface="Calibri" pitchFamily="34" charset="-122"/>
                <a:cs typeface="Calibri" pitchFamily="34" charset="-120"/>
              </a:rPr>
              <a:t>Traditional Najdi material palette and texture.</a:t>
            </a:r>
            <a:endParaRPr lang="en-US" sz="1150" dirty="0"/>
          </a:p>
        </p:txBody>
      </p:sp>
      <p:sp>
        <p:nvSpPr>
          <p:cNvPr id="12" name="Shape 10"/>
          <p:cNvSpPr/>
          <p:nvPr/>
        </p:nvSpPr>
        <p:spPr>
          <a:xfrm>
            <a:off x="6126480" y="1965960"/>
            <a:ext cx="5257800" cy="1600200"/>
          </a:xfrm>
          <a:prstGeom prst="roundRect">
            <a:avLst>
              <a:gd name="adj" fmla="val 5714"/>
            </a:avLst>
          </a:prstGeom>
          <a:solidFill>
            <a:srgbClr val="F2E9DD"/>
          </a:solidFill>
          <a:ln/>
        </p:spPr>
      </p:sp>
      <p:sp>
        <p:nvSpPr>
          <p:cNvPr id="13" name="Shape 11"/>
          <p:cNvSpPr/>
          <p:nvPr/>
        </p:nvSpPr>
        <p:spPr>
          <a:xfrm>
            <a:off x="6400800" y="2240280"/>
            <a:ext cx="502920" cy="502920"/>
          </a:xfrm>
          <a:prstGeom prst="oval">
            <a:avLst/>
          </a:prstGeom>
          <a:solidFill>
            <a:srgbClr val="B85042"/>
          </a:solidFill>
          <a:ln/>
        </p:spPr>
      </p:sp>
      <p:sp>
        <p:nvSpPr>
          <p:cNvPr id="14" name="Text 12"/>
          <p:cNvSpPr txBox="1"/>
          <p:nvPr/>
        </p:nvSpPr>
        <p:spPr>
          <a:xfrm>
            <a:off x="6400800" y="2240280"/>
            <a:ext cx="502920" cy="502920"/>
          </a:xfrm>
          <a:prstGeom prst="rect">
            <a:avLst/>
          </a:prstGeom>
          <a:noFill/>
          <a:ln/>
        </p:spPr>
        <p:txBody>
          <a:bodyPr wrap="square" lIns="0" tIns="0" rIns="0" bIns="0" rtlCol="0" anchor="ctr"/>
          <a:lstStyle/>
          <a:p>
            <a:pPr algn="ctr" indent="0" marL="0">
              <a:buNone/>
            </a:pPr>
            <a:r>
              <a:rPr lang="en-US" sz="1800" b="1" dirty="0">
                <a:solidFill>
                  <a:srgbClr val="FBF7F2"/>
                </a:solidFill>
                <a:latin typeface="Cambria" pitchFamily="34" charset="0"/>
                <a:ea typeface="Cambria" pitchFamily="34" charset="-122"/>
                <a:cs typeface="Cambria" pitchFamily="34" charset="-120"/>
              </a:rPr>
              <a:t>2</a:t>
            </a:r>
            <a:endParaRPr lang="en-US" sz="1800" dirty="0"/>
          </a:p>
        </p:txBody>
      </p:sp>
      <p:sp>
        <p:nvSpPr>
          <p:cNvPr id="15" name="Text 13"/>
          <p:cNvSpPr txBox="1"/>
          <p:nvPr/>
        </p:nvSpPr>
        <p:spPr>
          <a:xfrm>
            <a:off x="7086600" y="2167128"/>
            <a:ext cx="4023360" cy="457200"/>
          </a:xfrm>
          <a:prstGeom prst="rect">
            <a:avLst/>
          </a:prstGeom>
          <a:noFill/>
          <a:ln/>
        </p:spPr>
        <p:txBody>
          <a:bodyPr wrap="square" lIns="0" tIns="0" rIns="0" bIns="0" rtlCol="0" anchor="ctr"/>
          <a:lstStyle/>
          <a:p>
            <a:pPr indent="0" marL="0">
              <a:buNone/>
            </a:pPr>
            <a:r>
              <a:rPr lang="en-US" sz="1500" b="1" dirty="0">
                <a:solidFill>
                  <a:srgbClr val="2B1B12"/>
                </a:solidFill>
                <a:latin typeface="Cambria" pitchFamily="34" charset="0"/>
                <a:ea typeface="Cambria" pitchFamily="34" charset="-122"/>
                <a:cs typeface="Cambria" pitchFamily="34" charset="-120"/>
              </a:rPr>
              <a:t>Geometric Patterns</a:t>
            </a:r>
            <a:endParaRPr lang="en-US" sz="1500" dirty="0"/>
          </a:p>
        </p:txBody>
      </p:sp>
      <p:sp>
        <p:nvSpPr>
          <p:cNvPr id="16" name="Text 14"/>
          <p:cNvSpPr txBox="1"/>
          <p:nvPr/>
        </p:nvSpPr>
        <p:spPr>
          <a:xfrm>
            <a:off x="7086600" y="2624328"/>
            <a:ext cx="4023360" cy="822960"/>
          </a:xfrm>
          <a:prstGeom prst="rect">
            <a:avLst/>
          </a:prstGeom>
          <a:noFill/>
          <a:ln/>
        </p:spPr>
        <p:txBody>
          <a:bodyPr wrap="square" lIns="0" tIns="0" rIns="0" bIns="0" rtlCol="0" anchor="ctr"/>
          <a:lstStyle/>
          <a:p>
            <a:pPr indent="0" marL="0">
              <a:lnSpc>
                <a:spcPct val="120000"/>
              </a:lnSpc>
              <a:buNone/>
            </a:pPr>
            <a:r>
              <a:rPr lang="en-US" sz="1150" dirty="0">
                <a:solidFill>
                  <a:srgbClr val="2B1B12"/>
                </a:solidFill>
                <a:latin typeface="Calibri" pitchFamily="34" charset="0"/>
                <a:ea typeface="Calibri" pitchFamily="34" charset="-122"/>
                <a:cs typeface="Calibri" pitchFamily="34" charset="-120"/>
              </a:rPr>
              <a:t>Motifs drawn from historic Diriyah ornamentation.</a:t>
            </a:r>
            <a:endParaRPr lang="en-US" sz="1150" dirty="0"/>
          </a:p>
        </p:txBody>
      </p:sp>
      <p:sp>
        <p:nvSpPr>
          <p:cNvPr id="17" name="Shape 15"/>
          <p:cNvSpPr/>
          <p:nvPr/>
        </p:nvSpPr>
        <p:spPr>
          <a:xfrm>
            <a:off x="548640" y="3886200"/>
            <a:ext cx="5257800" cy="1600200"/>
          </a:xfrm>
          <a:prstGeom prst="roundRect">
            <a:avLst>
              <a:gd name="adj" fmla="val 5714"/>
            </a:avLst>
          </a:prstGeom>
          <a:solidFill>
            <a:srgbClr val="F2E9DD"/>
          </a:solidFill>
          <a:ln/>
        </p:spPr>
      </p:sp>
      <p:sp>
        <p:nvSpPr>
          <p:cNvPr id="18" name="Shape 16"/>
          <p:cNvSpPr/>
          <p:nvPr/>
        </p:nvSpPr>
        <p:spPr>
          <a:xfrm>
            <a:off x="822960" y="4160520"/>
            <a:ext cx="502920" cy="502920"/>
          </a:xfrm>
          <a:prstGeom prst="oval">
            <a:avLst/>
          </a:prstGeom>
          <a:solidFill>
            <a:srgbClr val="B85042"/>
          </a:solidFill>
          <a:ln/>
        </p:spPr>
      </p:sp>
      <p:sp>
        <p:nvSpPr>
          <p:cNvPr id="19" name="Text 17"/>
          <p:cNvSpPr txBox="1"/>
          <p:nvPr/>
        </p:nvSpPr>
        <p:spPr>
          <a:xfrm>
            <a:off x="822960" y="4160520"/>
            <a:ext cx="502920" cy="502920"/>
          </a:xfrm>
          <a:prstGeom prst="rect">
            <a:avLst/>
          </a:prstGeom>
          <a:noFill/>
          <a:ln/>
        </p:spPr>
        <p:txBody>
          <a:bodyPr wrap="square" lIns="0" tIns="0" rIns="0" bIns="0" rtlCol="0" anchor="ctr"/>
          <a:lstStyle/>
          <a:p>
            <a:pPr algn="ctr" indent="0" marL="0">
              <a:buNone/>
            </a:pPr>
            <a:r>
              <a:rPr lang="en-US" sz="1800" b="1" dirty="0">
                <a:solidFill>
                  <a:srgbClr val="FBF7F2"/>
                </a:solidFill>
                <a:latin typeface="Cambria" pitchFamily="34" charset="0"/>
                <a:ea typeface="Cambria" pitchFamily="34" charset="-122"/>
                <a:cs typeface="Cambria" pitchFamily="34" charset="-120"/>
              </a:rPr>
              <a:t>3</a:t>
            </a:r>
            <a:endParaRPr lang="en-US" sz="1800" dirty="0"/>
          </a:p>
        </p:txBody>
      </p:sp>
      <p:sp>
        <p:nvSpPr>
          <p:cNvPr id="20" name="Text 18"/>
          <p:cNvSpPr txBox="1"/>
          <p:nvPr/>
        </p:nvSpPr>
        <p:spPr>
          <a:xfrm>
            <a:off x="1508760" y="4087368"/>
            <a:ext cx="4023360" cy="457200"/>
          </a:xfrm>
          <a:prstGeom prst="rect">
            <a:avLst/>
          </a:prstGeom>
          <a:noFill/>
          <a:ln/>
        </p:spPr>
        <p:txBody>
          <a:bodyPr wrap="square" lIns="0" tIns="0" rIns="0" bIns="0" rtlCol="0" anchor="ctr"/>
          <a:lstStyle/>
          <a:p>
            <a:pPr indent="0" marL="0">
              <a:buNone/>
            </a:pPr>
            <a:r>
              <a:rPr lang="en-US" sz="1500" b="1" dirty="0">
                <a:solidFill>
                  <a:srgbClr val="2B1B12"/>
                </a:solidFill>
                <a:latin typeface="Cambria" pitchFamily="34" charset="0"/>
                <a:ea typeface="Cambria" pitchFamily="34" charset="-122"/>
                <a:cs typeface="Cambria" pitchFamily="34" charset="-120"/>
              </a:rPr>
              <a:t>Central Courtyards</a:t>
            </a:r>
            <a:endParaRPr lang="en-US" sz="1500" dirty="0"/>
          </a:p>
        </p:txBody>
      </p:sp>
      <p:sp>
        <p:nvSpPr>
          <p:cNvPr id="21" name="Text 19"/>
          <p:cNvSpPr txBox="1"/>
          <p:nvPr/>
        </p:nvSpPr>
        <p:spPr>
          <a:xfrm>
            <a:off x="1508760" y="4544568"/>
            <a:ext cx="4023360" cy="822960"/>
          </a:xfrm>
          <a:prstGeom prst="rect">
            <a:avLst/>
          </a:prstGeom>
          <a:noFill/>
          <a:ln/>
        </p:spPr>
        <p:txBody>
          <a:bodyPr wrap="square" lIns="0" tIns="0" rIns="0" bIns="0" rtlCol="0" anchor="ctr"/>
          <a:lstStyle/>
          <a:p>
            <a:pPr indent="0" marL="0">
              <a:lnSpc>
                <a:spcPct val="120000"/>
              </a:lnSpc>
              <a:buNone/>
            </a:pPr>
            <a:r>
              <a:rPr lang="en-US" sz="1150" dirty="0">
                <a:solidFill>
                  <a:srgbClr val="2B1B12"/>
                </a:solidFill>
                <a:latin typeface="Calibri" pitchFamily="34" charset="0"/>
                <a:ea typeface="Calibri" pitchFamily="34" charset="-122"/>
                <a:cs typeface="Calibri" pitchFamily="34" charset="-120"/>
              </a:rPr>
              <a:t>Passive micro-climate regulation, Najdi spatial logic.</a:t>
            </a:r>
            <a:endParaRPr lang="en-US" sz="1150" dirty="0"/>
          </a:p>
        </p:txBody>
      </p:sp>
      <p:sp>
        <p:nvSpPr>
          <p:cNvPr id="22" name="Shape 20"/>
          <p:cNvSpPr/>
          <p:nvPr/>
        </p:nvSpPr>
        <p:spPr>
          <a:xfrm>
            <a:off x="6126480" y="3886200"/>
            <a:ext cx="5257800" cy="1600200"/>
          </a:xfrm>
          <a:prstGeom prst="roundRect">
            <a:avLst>
              <a:gd name="adj" fmla="val 5714"/>
            </a:avLst>
          </a:prstGeom>
          <a:solidFill>
            <a:srgbClr val="F2E9DD"/>
          </a:solidFill>
          <a:ln/>
        </p:spPr>
      </p:sp>
      <p:sp>
        <p:nvSpPr>
          <p:cNvPr id="23" name="Shape 21"/>
          <p:cNvSpPr/>
          <p:nvPr/>
        </p:nvSpPr>
        <p:spPr>
          <a:xfrm>
            <a:off x="6400800" y="4160520"/>
            <a:ext cx="502920" cy="502920"/>
          </a:xfrm>
          <a:prstGeom prst="oval">
            <a:avLst/>
          </a:prstGeom>
          <a:solidFill>
            <a:srgbClr val="B85042"/>
          </a:solidFill>
          <a:ln/>
        </p:spPr>
      </p:sp>
      <p:sp>
        <p:nvSpPr>
          <p:cNvPr id="24" name="Text 22"/>
          <p:cNvSpPr txBox="1"/>
          <p:nvPr/>
        </p:nvSpPr>
        <p:spPr>
          <a:xfrm>
            <a:off x="6400800" y="4160520"/>
            <a:ext cx="502920" cy="502920"/>
          </a:xfrm>
          <a:prstGeom prst="rect">
            <a:avLst/>
          </a:prstGeom>
          <a:noFill/>
          <a:ln/>
        </p:spPr>
        <p:txBody>
          <a:bodyPr wrap="square" lIns="0" tIns="0" rIns="0" bIns="0" rtlCol="0" anchor="ctr"/>
          <a:lstStyle/>
          <a:p>
            <a:pPr algn="ctr" indent="0" marL="0">
              <a:buNone/>
            </a:pPr>
            <a:r>
              <a:rPr lang="en-US" sz="1800" b="1" dirty="0">
                <a:solidFill>
                  <a:srgbClr val="FBF7F2"/>
                </a:solidFill>
                <a:latin typeface="Cambria" pitchFamily="34" charset="0"/>
                <a:ea typeface="Cambria" pitchFamily="34" charset="-122"/>
                <a:cs typeface="Cambria" pitchFamily="34" charset="-120"/>
              </a:rPr>
              <a:t>4</a:t>
            </a:r>
            <a:endParaRPr lang="en-US" sz="1800" dirty="0"/>
          </a:p>
        </p:txBody>
      </p:sp>
      <p:sp>
        <p:nvSpPr>
          <p:cNvPr id="25" name="Text 23"/>
          <p:cNvSpPr txBox="1"/>
          <p:nvPr/>
        </p:nvSpPr>
        <p:spPr>
          <a:xfrm>
            <a:off x="7086600" y="4087368"/>
            <a:ext cx="4023360" cy="457200"/>
          </a:xfrm>
          <a:prstGeom prst="rect">
            <a:avLst/>
          </a:prstGeom>
          <a:noFill/>
          <a:ln/>
        </p:spPr>
        <p:txBody>
          <a:bodyPr wrap="square" lIns="0" tIns="0" rIns="0" bIns="0" rtlCol="0" anchor="ctr"/>
          <a:lstStyle/>
          <a:p>
            <a:pPr indent="0" marL="0">
              <a:buNone/>
            </a:pPr>
            <a:r>
              <a:rPr lang="en-US" sz="1500" b="1" dirty="0">
                <a:solidFill>
                  <a:srgbClr val="2B1B12"/>
                </a:solidFill>
                <a:latin typeface="Cambria" pitchFamily="34" charset="0"/>
                <a:ea typeface="Cambria" pitchFamily="34" charset="-122"/>
                <a:cs typeface="Cambria" pitchFamily="34" charset="-120"/>
              </a:rPr>
              <a:t>'Sharfat' Rooflines</a:t>
            </a:r>
            <a:endParaRPr lang="en-US" sz="1500" dirty="0"/>
          </a:p>
        </p:txBody>
      </p:sp>
      <p:sp>
        <p:nvSpPr>
          <p:cNvPr id="26" name="Text 24"/>
          <p:cNvSpPr txBox="1"/>
          <p:nvPr/>
        </p:nvSpPr>
        <p:spPr>
          <a:xfrm>
            <a:off x="7086600" y="4544568"/>
            <a:ext cx="4023360" cy="822960"/>
          </a:xfrm>
          <a:prstGeom prst="rect">
            <a:avLst/>
          </a:prstGeom>
          <a:noFill/>
          <a:ln/>
        </p:spPr>
        <p:txBody>
          <a:bodyPr wrap="square" lIns="0" tIns="0" rIns="0" bIns="0" rtlCol="0" anchor="ctr"/>
          <a:lstStyle/>
          <a:p>
            <a:pPr indent="0" marL="0">
              <a:lnSpc>
                <a:spcPct val="120000"/>
              </a:lnSpc>
              <a:buNone/>
            </a:pPr>
            <a:r>
              <a:rPr lang="en-US" sz="1150" dirty="0">
                <a:solidFill>
                  <a:srgbClr val="2B1B12"/>
                </a:solidFill>
                <a:latin typeface="Calibri" pitchFamily="34" charset="0"/>
                <a:ea typeface="Calibri" pitchFamily="34" charset="-122"/>
                <a:cs typeface="Calibri" pitchFamily="34" charset="-120"/>
              </a:rPr>
              <a:t>Crenellated parapets for privacy and identity.</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7F2"/>
        </a:solidFill>
      </p:bgPr>
    </p:bg>
    <p:spTree>
      <p:nvGrpSpPr>
        <p:cNvPr id="1" name=""/>
        <p:cNvGrpSpPr/>
        <p:nvPr/>
      </p:nvGrpSpPr>
      <p:grpSpPr>
        <a:xfrm>
          <a:off x="0" y="0"/>
          <a:ext cx="0" cy="0"/>
          <a:chOff x="0" y="0"/>
          <a:chExt cx="0" cy="0"/>
        </a:xfrm>
      </p:grpSpPr>
      <p:sp>
        <p:nvSpPr>
          <p:cNvPr id="2" name="Text 0"/>
          <p:cNvSpPr txBox="1"/>
          <p:nvPr/>
        </p:nvSpPr>
        <p:spPr>
          <a:xfrm>
            <a:off x="548640" y="411480"/>
            <a:ext cx="1097280" cy="457200"/>
          </a:xfrm>
          <a:prstGeom prst="rect">
            <a:avLst/>
          </a:prstGeom>
          <a:noFill/>
          <a:ln/>
        </p:spPr>
        <p:txBody>
          <a:bodyPr wrap="square" lIns="0" tIns="0" rIns="0" bIns="0" rtlCol="0" anchor="ctr"/>
          <a:lstStyle/>
          <a:p>
            <a:pPr indent="0" marL="0">
              <a:buNone/>
            </a:pPr>
            <a:r>
              <a:rPr lang="en-US" sz="1400" b="1" dirty="0">
                <a:solidFill>
                  <a:srgbClr val="8FA998"/>
                </a:solidFill>
                <a:latin typeface="Cambria" pitchFamily="34" charset="0"/>
                <a:ea typeface="Cambria" pitchFamily="34" charset="-122"/>
                <a:cs typeface="Cambria" pitchFamily="34" charset="-120"/>
              </a:rPr>
              <a:t>03</a:t>
            </a:r>
            <a:endParaRPr lang="en-US" sz="1400" dirty="0"/>
          </a:p>
        </p:txBody>
      </p:sp>
      <p:sp>
        <p:nvSpPr>
          <p:cNvPr id="3" name="Text 1"/>
          <p:cNvSpPr txBox="1"/>
          <p:nvPr/>
        </p:nvSpPr>
        <p:spPr>
          <a:xfrm>
            <a:off x="548640" y="777240"/>
            <a:ext cx="10881360" cy="777240"/>
          </a:xfrm>
          <a:prstGeom prst="rect">
            <a:avLst/>
          </a:prstGeom>
          <a:noFill/>
          <a:ln/>
        </p:spPr>
        <p:txBody>
          <a:bodyPr wrap="square" lIns="0" tIns="0" rIns="0" bIns="0" rtlCol="0" anchor="ctr"/>
          <a:lstStyle/>
          <a:p>
            <a:pPr indent="0" marL="0">
              <a:buNone/>
            </a:pPr>
            <a:r>
              <a:rPr lang="en-US" sz="3000" b="1" dirty="0">
                <a:solidFill>
                  <a:srgbClr val="2B1B12"/>
                </a:solidFill>
                <a:latin typeface="Cambria" pitchFamily="34" charset="0"/>
                <a:ea typeface="Cambria" pitchFamily="34" charset="-122"/>
                <a:cs typeface="Cambria" pitchFamily="34" charset="-120"/>
              </a:rPr>
              <a:t>Scope &amp; Key Components</a:t>
            </a:r>
            <a:endParaRPr lang="en-US" sz="3000" dirty="0"/>
          </a:p>
        </p:txBody>
      </p:sp>
      <p:sp>
        <p:nvSpPr>
          <p:cNvPr id="4" name="Shape 2"/>
          <p:cNvSpPr/>
          <p:nvPr/>
        </p:nvSpPr>
        <p:spPr>
          <a:xfrm>
            <a:off x="11064240" y="502920"/>
            <a:ext cx="100584" cy="130759"/>
          </a:xfrm>
          <a:prstGeom prst="triangle">
            <a:avLst/>
          </a:prstGeom>
          <a:solidFill>
            <a:srgbClr val="B85042"/>
          </a:solidFill>
          <a:ln/>
        </p:spPr>
      </p:sp>
      <p:sp>
        <p:nvSpPr>
          <p:cNvPr id="5" name="Shape 3"/>
          <p:cNvSpPr/>
          <p:nvPr/>
        </p:nvSpPr>
        <p:spPr>
          <a:xfrm>
            <a:off x="11192256" y="502920"/>
            <a:ext cx="100584" cy="130759"/>
          </a:xfrm>
          <a:prstGeom prst="triangle">
            <a:avLst/>
          </a:prstGeom>
          <a:solidFill>
            <a:srgbClr val="B85042"/>
          </a:solidFill>
          <a:ln/>
        </p:spPr>
      </p:sp>
      <p:sp>
        <p:nvSpPr>
          <p:cNvPr id="6" name="Shape 4"/>
          <p:cNvSpPr/>
          <p:nvPr/>
        </p:nvSpPr>
        <p:spPr>
          <a:xfrm>
            <a:off x="11320272" y="502920"/>
            <a:ext cx="100584" cy="130759"/>
          </a:xfrm>
          <a:prstGeom prst="triangle">
            <a:avLst/>
          </a:prstGeom>
          <a:solidFill>
            <a:srgbClr val="B85042"/>
          </a:solidFill>
          <a:ln/>
        </p:spPr>
      </p:sp>
      <p:sp>
        <p:nvSpPr>
          <p:cNvPr id="7" name="Shape 5"/>
          <p:cNvSpPr/>
          <p:nvPr/>
        </p:nvSpPr>
        <p:spPr>
          <a:xfrm>
            <a:off x="548640" y="1965960"/>
            <a:ext cx="457200" cy="457200"/>
          </a:xfrm>
          <a:prstGeom prst="roundRect">
            <a:avLst>
              <a:gd name="adj" fmla="val 16000"/>
            </a:avLst>
          </a:prstGeom>
          <a:solidFill>
            <a:srgbClr val="B85042"/>
          </a:solidFill>
          <a:ln/>
        </p:spPr>
      </p:sp>
      <p:sp>
        <p:nvSpPr>
          <p:cNvPr id="8" name="Text 6"/>
          <p:cNvSpPr txBox="1"/>
          <p:nvPr/>
        </p:nvSpPr>
        <p:spPr>
          <a:xfrm>
            <a:off x="548640" y="1965960"/>
            <a:ext cx="457200" cy="457200"/>
          </a:xfrm>
          <a:prstGeom prst="rect">
            <a:avLst/>
          </a:prstGeom>
          <a:noFill/>
          <a:ln/>
        </p:spPr>
        <p:txBody>
          <a:bodyPr wrap="square" lIns="0" tIns="0" rIns="0" bIns="0" rtlCol="0" anchor="ctr"/>
          <a:lstStyle/>
          <a:p>
            <a:pPr algn="ctr" indent="0" marL="0">
              <a:buNone/>
            </a:pPr>
            <a:r>
              <a:rPr lang="en-US" sz="1500" b="1" dirty="0">
                <a:solidFill>
                  <a:srgbClr val="FBF7F2"/>
                </a:solidFill>
                <a:latin typeface="Cambria" pitchFamily="34" charset="0"/>
                <a:ea typeface="Cambria" pitchFamily="34" charset="-122"/>
                <a:cs typeface="Cambria" pitchFamily="34" charset="-120"/>
              </a:rPr>
              <a:t>1</a:t>
            </a:r>
            <a:endParaRPr lang="en-US" sz="1500" dirty="0"/>
          </a:p>
        </p:txBody>
      </p:sp>
      <p:sp>
        <p:nvSpPr>
          <p:cNvPr id="9" name="Text 7"/>
          <p:cNvSpPr txBox="1"/>
          <p:nvPr/>
        </p:nvSpPr>
        <p:spPr>
          <a:xfrm>
            <a:off x="1234440" y="1938528"/>
            <a:ext cx="9875520" cy="548640"/>
          </a:xfrm>
          <a:prstGeom prst="rect">
            <a:avLst/>
          </a:prstGeom>
          <a:noFill/>
          <a:ln/>
        </p:spPr>
        <p:txBody>
          <a:bodyPr wrap="square" lIns="0" tIns="0" rIns="0" bIns="0" rtlCol="0" anchor="ctr"/>
          <a:lstStyle/>
          <a:p>
            <a:pPr indent="0" marL="0">
              <a:buNone/>
            </a:pPr>
            <a:r>
              <a:rPr lang="en-US" sz="1500" dirty="0">
                <a:solidFill>
                  <a:srgbClr val="2B1B12"/>
                </a:solidFill>
                <a:latin typeface="Calibri" pitchFamily="34" charset="0"/>
                <a:ea typeface="Calibri" pitchFamily="34" charset="-122"/>
                <a:cs typeface="Calibri" pitchFamily="34" charset="-120"/>
              </a:rPr>
              <a:t>Ministry of Culture bridge and welcome hall</a:t>
            </a:r>
            <a:endParaRPr lang="en-US" sz="1500" dirty="0"/>
          </a:p>
        </p:txBody>
      </p:sp>
      <p:sp>
        <p:nvSpPr>
          <p:cNvPr id="10" name="Shape 8"/>
          <p:cNvSpPr/>
          <p:nvPr/>
        </p:nvSpPr>
        <p:spPr>
          <a:xfrm>
            <a:off x="548640" y="2788920"/>
            <a:ext cx="457200" cy="457200"/>
          </a:xfrm>
          <a:prstGeom prst="roundRect">
            <a:avLst>
              <a:gd name="adj" fmla="val 16000"/>
            </a:avLst>
          </a:prstGeom>
          <a:solidFill>
            <a:srgbClr val="B85042"/>
          </a:solidFill>
          <a:ln/>
        </p:spPr>
      </p:sp>
      <p:sp>
        <p:nvSpPr>
          <p:cNvPr id="11" name="Text 9"/>
          <p:cNvSpPr txBox="1"/>
          <p:nvPr/>
        </p:nvSpPr>
        <p:spPr>
          <a:xfrm>
            <a:off x="548640" y="2788920"/>
            <a:ext cx="457200" cy="457200"/>
          </a:xfrm>
          <a:prstGeom prst="rect">
            <a:avLst/>
          </a:prstGeom>
          <a:noFill/>
          <a:ln/>
        </p:spPr>
        <p:txBody>
          <a:bodyPr wrap="square" lIns="0" tIns="0" rIns="0" bIns="0" rtlCol="0" anchor="ctr"/>
          <a:lstStyle/>
          <a:p>
            <a:pPr algn="ctr" indent="0" marL="0">
              <a:buNone/>
            </a:pPr>
            <a:r>
              <a:rPr lang="en-US" sz="1500" b="1" dirty="0">
                <a:solidFill>
                  <a:srgbClr val="FBF7F2"/>
                </a:solidFill>
                <a:latin typeface="Cambria" pitchFamily="34" charset="0"/>
                <a:ea typeface="Cambria" pitchFamily="34" charset="-122"/>
                <a:cs typeface="Cambria" pitchFamily="34" charset="-120"/>
              </a:rPr>
              <a:t>2</a:t>
            </a:r>
            <a:endParaRPr lang="en-US" sz="1500" dirty="0"/>
          </a:p>
        </p:txBody>
      </p:sp>
      <p:sp>
        <p:nvSpPr>
          <p:cNvPr id="12" name="Text 10"/>
          <p:cNvSpPr txBox="1"/>
          <p:nvPr/>
        </p:nvSpPr>
        <p:spPr>
          <a:xfrm>
            <a:off x="1234440" y="2761488"/>
            <a:ext cx="9875520" cy="548640"/>
          </a:xfrm>
          <a:prstGeom prst="rect">
            <a:avLst/>
          </a:prstGeom>
          <a:noFill/>
          <a:ln/>
        </p:spPr>
        <p:txBody>
          <a:bodyPr wrap="square" lIns="0" tIns="0" rIns="0" bIns="0" rtlCol="0" anchor="ctr"/>
          <a:lstStyle/>
          <a:p>
            <a:pPr indent="0" marL="0">
              <a:buNone/>
            </a:pPr>
            <a:r>
              <a:rPr lang="en-US" sz="1500" dirty="0">
                <a:solidFill>
                  <a:srgbClr val="2B1B12"/>
                </a:solidFill>
                <a:latin typeface="Calibri" pitchFamily="34" charset="0"/>
                <a:ea typeface="Calibri" pitchFamily="34" charset="-122"/>
                <a:cs typeface="Calibri" pitchFamily="34" charset="-120"/>
              </a:rPr>
              <a:t>Multi-level car park (B1–B3)</a:t>
            </a:r>
            <a:endParaRPr lang="en-US" sz="1500" dirty="0"/>
          </a:p>
        </p:txBody>
      </p:sp>
      <p:sp>
        <p:nvSpPr>
          <p:cNvPr id="13" name="Shape 11"/>
          <p:cNvSpPr/>
          <p:nvPr/>
        </p:nvSpPr>
        <p:spPr>
          <a:xfrm>
            <a:off x="548640" y="3611880"/>
            <a:ext cx="457200" cy="457200"/>
          </a:xfrm>
          <a:prstGeom prst="roundRect">
            <a:avLst>
              <a:gd name="adj" fmla="val 16000"/>
            </a:avLst>
          </a:prstGeom>
          <a:solidFill>
            <a:srgbClr val="B85042"/>
          </a:solidFill>
          <a:ln/>
        </p:spPr>
      </p:sp>
      <p:sp>
        <p:nvSpPr>
          <p:cNvPr id="14" name="Text 12"/>
          <p:cNvSpPr txBox="1"/>
          <p:nvPr/>
        </p:nvSpPr>
        <p:spPr>
          <a:xfrm>
            <a:off x="548640" y="3611880"/>
            <a:ext cx="457200" cy="457200"/>
          </a:xfrm>
          <a:prstGeom prst="rect">
            <a:avLst/>
          </a:prstGeom>
          <a:noFill/>
          <a:ln/>
        </p:spPr>
        <p:txBody>
          <a:bodyPr wrap="square" lIns="0" tIns="0" rIns="0" bIns="0" rtlCol="0" anchor="ctr"/>
          <a:lstStyle/>
          <a:p>
            <a:pPr algn="ctr" indent="0" marL="0">
              <a:buNone/>
            </a:pPr>
            <a:r>
              <a:rPr lang="en-US" sz="1500" b="1" dirty="0">
                <a:solidFill>
                  <a:srgbClr val="FBF7F2"/>
                </a:solidFill>
                <a:latin typeface="Cambria" pitchFamily="34" charset="0"/>
                <a:ea typeface="Cambria" pitchFamily="34" charset="-122"/>
                <a:cs typeface="Cambria" pitchFamily="34" charset="-120"/>
              </a:rPr>
              <a:t>3</a:t>
            </a:r>
            <a:endParaRPr lang="en-US" sz="1500" dirty="0"/>
          </a:p>
        </p:txBody>
      </p:sp>
      <p:sp>
        <p:nvSpPr>
          <p:cNvPr id="15" name="Text 13"/>
          <p:cNvSpPr txBox="1"/>
          <p:nvPr/>
        </p:nvSpPr>
        <p:spPr>
          <a:xfrm>
            <a:off x="1234440" y="3584448"/>
            <a:ext cx="9875520" cy="548640"/>
          </a:xfrm>
          <a:prstGeom prst="rect">
            <a:avLst/>
          </a:prstGeom>
          <a:noFill/>
          <a:ln/>
        </p:spPr>
        <p:txBody>
          <a:bodyPr wrap="square" lIns="0" tIns="0" rIns="0" bIns="0" rtlCol="0" anchor="ctr"/>
          <a:lstStyle/>
          <a:p>
            <a:pPr indent="0" marL="0">
              <a:buNone/>
            </a:pPr>
            <a:r>
              <a:rPr lang="en-US" sz="1500" dirty="0">
                <a:solidFill>
                  <a:srgbClr val="2B1B12"/>
                </a:solidFill>
                <a:latin typeface="Calibri" pitchFamily="34" charset="0"/>
                <a:ea typeface="Calibri" pitchFamily="34" charset="-122"/>
                <a:cs typeface="Calibri" pitchFamily="34" charset="-120"/>
              </a:rPr>
              <a:t>Najdi Center</a:t>
            </a:r>
            <a:endParaRPr lang="en-US" sz="1500" dirty="0"/>
          </a:p>
        </p:txBody>
      </p:sp>
      <p:sp>
        <p:nvSpPr>
          <p:cNvPr id="16" name="Shape 14"/>
          <p:cNvSpPr/>
          <p:nvPr/>
        </p:nvSpPr>
        <p:spPr>
          <a:xfrm>
            <a:off x="548640" y="4434840"/>
            <a:ext cx="457200" cy="457200"/>
          </a:xfrm>
          <a:prstGeom prst="roundRect">
            <a:avLst>
              <a:gd name="adj" fmla="val 16000"/>
            </a:avLst>
          </a:prstGeom>
          <a:solidFill>
            <a:srgbClr val="B85042"/>
          </a:solidFill>
          <a:ln/>
        </p:spPr>
      </p:sp>
      <p:sp>
        <p:nvSpPr>
          <p:cNvPr id="17" name="Text 15"/>
          <p:cNvSpPr txBox="1"/>
          <p:nvPr/>
        </p:nvSpPr>
        <p:spPr>
          <a:xfrm>
            <a:off x="548640" y="4434840"/>
            <a:ext cx="457200" cy="457200"/>
          </a:xfrm>
          <a:prstGeom prst="rect">
            <a:avLst/>
          </a:prstGeom>
          <a:noFill/>
          <a:ln/>
        </p:spPr>
        <p:txBody>
          <a:bodyPr wrap="square" lIns="0" tIns="0" rIns="0" bIns="0" rtlCol="0" anchor="ctr"/>
          <a:lstStyle/>
          <a:p>
            <a:pPr algn="ctr" indent="0" marL="0">
              <a:buNone/>
            </a:pPr>
            <a:r>
              <a:rPr lang="en-US" sz="1500" b="1" dirty="0">
                <a:solidFill>
                  <a:srgbClr val="FBF7F2"/>
                </a:solidFill>
                <a:latin typeface="Cambria" pitchFamily="34" charset="0"/>
                <a:ea typeface="Cambria" pitchFamily="34" charset="-122"/>
                <a:cs typeface="Cambria" pitchFamily="34" charset="-120"/>
              </a:rPr>
              <a:t>4</a:t>
            </a:r>
            <a:endParaRPr lang="en-US" sz="1500" dirty="0"/>
          </a:p>
        </p:txBody>
      </p:sp>
      <p:sp>
        <p:nvSpPr>
          <p:cNvPr id="18" name="Text 16"/>
          <p:cNvSpPr txBox="1"/>
          <p:nvPr/>
        </p:nvSpPr>
        <p:spPr>
          <a:xfrm>
            <a:off x="1234440" y="4407408"/>
            <a:ext cx="9875520" cy="548640"/>
          </a:xfrm>
          <a:prstGeom prst="rect">
            <a:avLst/>
          </a:prstGeom>
          <a:noFill/>
          <a:ln/>
        </p:spPr>
        <p:txBody>
          <a:bodyPr wrap="square" lIns="0" tIns="0" rIns="0" bIns="0" rtlCol="0" anchor="ctr"/>
          <a:lstStyle/>
          <a:p>
            <a:pPr indent="0" marL="0">
              <a:buNone/>
            </a:pPr>
            <a:r>
              <a:rPr lang="en-US" sz="1500" dirty="0">
                <a:solidFill>
                  <a:srgbClr val="2B1B12"/>
                </a:solidFill>
                <a:latin typeface="Calibri" pitchFamily="34" charset="0"/>
                <a:ea typeface="Calibri" pitchFamily="34" charset="-122"/>
                <a:cs typeface="Calibri" pitchFamily="34" charset="-120"/>
              </a:rPr>
              <a:t>Boulevard Terraces</a:t>
            </a:r>
            <a:endParaRPr lang="en-US" sz="1500" dirty="0"/>
          </a:p>
        </p:txBody>
      </p:sp>
      <p:sp>
        <p:nvSpPr>
          <p:cNvPr id="19" name="Shape 17"/>
          <p:cNvSpPr/>
          <p:nvPr/>
        </p:nvSpPr>
        <p:spPr>
          <a:xfrm>
            <a:off x="548640" y="5257800"/>
            <a:ext cx="457200" cy="457200"/>
          </a:xfrm>
          <a:prstGeom prst="roundRect">
            <a:avLst>
              <a:gd name="adj" fmla="val 16000"/>
            </a:avLst>
          </a:prstGeom>
          <a:solidFill>
            <a:srgbClr val="B85042"/>
          </a:solidFill>
          <a:ln/>
        </p:spPr>
      </p:sp>
      <p:sp>
        <p:nvSpPr>
          <p:cNvPr id="20" name="Text 18"/>
          <p:cNvSpPr txBox="1"/>
          <p:nvPr/>
        </p:nvSpPr>
        <p:spPr>
          <a:xfrm>
            <a:off x="548640" y="5257800"/>
            <a:ext cx="457200" cy="457200"/>
          </a:xfrm>
          <a:prstGeom prst="rect">
            <a:avLst/>
          </a:prstGeom>
          <a:noFill/>
          <a:ln/>
        </p:spPr>
        <p:txBody>
          <a:bodyPr wrap="square" lIns="0" tIns="0" rIns="0" bIns="0" rtlCol="0" anchor="ctr"/>
          <a:lstStyle/>
          <a:p>
            <a:pPr algn="ctr" indent="0" marL="0">
              <a:buNone/>
            </a:pPr>
            <a:r>
              <a:rPr lang="en-US" sz="1500" b="1" dirty="0">
                <a:solidFill>
                  <a:srgbClr val="FBF7F2"/>
                </a:solidFill>
                <a:latin typeface="Cambria" pitchFamily="34" charset="0"/>
                <a:ea typeface="Cambria" pitchFamily="34" charset="-122"/>
                <a:cs typeface="Cambria" pitchFamily="34" charset="-120"/>
              </a:rPr>
              <a:t>5</a:t>
            </a:r>
            <a:endParaRPr lang="en-US" sz="1500" dirty="0"/>
          </a:p>
        </p:txBody>
      </p:sp>
      <p:sp>
        <p:nvSpPr>
          <p:cNvPr id="21" name="Text 19"/>
          <p:cNvSpPr txBox="1"/>
          <p:nvPr/>
        </p:nvSpPr>
        <p:spPr>
          <a:xfrm>
            <a:off x="1234440" y="5230368"/>
            <a:ext cx="9875520" cy="548640"/>
          </a:xfrm>
          <a:prstGeom prst="rect">
            <a:avLst/>
          </a:prstGeom>
          <a:noFill/>
          <a:ln/>
        </p:spPr>
        <p:txBody>
          <a:bodyPr wrap="square" lIns="0" tIns="0" rIns="0" bIns="0" rtlCol="0" anchor="ctr"/>
          <a:lstStyle/>
          <a:p>
            <a:pPr indent="0" marL="0">
              <a:buNone/>
            </a:pPr>
            <a:r>
              <a:rPr lang="en-US" sz="1500" dirty="0">
                <a:solidFill>
                  <a:srgbClr val="2B1B12"/>
                </a:solidFill>
                <a:latin typeface="Calibri" pitchFamily="34" charset="0"/>
                <a:ea typeface="Calibri" pitchFamily="34" charset="-122"/>
                <a:cs typeface="Calibri" pitchFamily="34" charset="-120"/>
              </a:rPr>
              <a:t>GSM connectivity infrastructure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7F2"/>
        </a:solidFill>
      </p:bgPr>
    </p:bg>
    <p:spTree>
      <p:nvGrpSpPr>
        <p:cNvPr id="1" name=""/>
        <p:cNvGrpSpPr/>
        <p:nvPr/>
      </p:nvGrpSpPr>
      <p:grpSpPr>
        <a:xfrm>
          <a:off x="0" y="0"/>
          <a:ext cx="0" cy="0"/>
          <a:chOff x="0" y="0"/>
          <a:chExt cx="0" cy="0"/>
        </a:xfrm>
      </p:grpSpPr>
      <p:sp>
        <p:nvSpPr>
          <p:cNvPr id="2" name="Text 0"/>
          <p:cNvSpPr txBox="1"/>
          <p:nvPr/>
        </p:nvSpPr>
        <p:spPr>
          <a:xfrm>
            <a:off x="548640" y="411480"/>
            <a:ext cx="1097280" cy="457200"/>
          </a:xfrm>
          <a:prstGeom prst="rect">
            <a:avLst/>
          </a:prstGeom>
          <a:noFill/>
          <a:ln/>
        </p:spPr>
        <p:txBody>
          <a:bodyPr wrap="square" lIns="0" tIns="0" rIns="0" bIns="0" rtlCol="0" anchor="ctr"/>
          <a:lstStyle/>
          <a:p>
            <a:pPr indent="0" marL="0">
              <a:buNone/>
            </a:pPr>
            <a:r>
              <a:rPr lang="en-US" sz="1400" b="1" dirty="0">
                <a:solidFill>
                  <a:srgbClr val="8FA998"/>
                </a:solidFill>
                <a:latin typeface="Cambria" pitchFamily="34" charset="0"/>
                <a:ea typeface="Cambria" pitchFamily="34" charset="-122"/>
                <a:cs typeface="Cambria" pitchFamily="34" charset="-120"/>
              </a:rPr>
              <a:t>04</a:t>
            </a:r>
            <a:endParaRPr lang="en-US" sz="1400" dirty="0"/>
          </a:p>
        </p:txBody>
      </p:sp>
      <p:sp>
        <p:nvSpPr>
          <p:cNvPr id="3" name="Text 1"/>
          <p:cNvSpPr txBox="1"/>
          <p:nvPr/>
        </p:nvSpPr>
        <p:spPr>
          <a:xfrm>
            <a:off x="548640" y="777240"/>
            <a:ext cx="10881360" cy="777240"/>
          </a:xfrm>
          <a:prstGeom prst="rect">
            <a:avLst/>
          </a:prstGeom>
          <a:noFill/>
          <a:ln/>
        </p:spPr>
        <p:txBody>
          <a:bodyPr wrap="square" lIns="0" tIns="0" rIns="0" bIns="0" rtlCol="0" anchor="ctr"/>
          <a:lstStyle/>
          <a:p>
            <a:pPr indent="0" marL="0">
              <a:buNone/>
            </a:pPr>
            <a:r>
              <a:rPr lang="en-US" sz="3000" b="1" dirty="0">
                <a:solidFill>
                  <a:srgbClr val="2B1B12"/>
                </a:solidFill>
                <a:latin typeface="Cambria" pitchFamily="34" charset="0"/>
                <a:ea typeface="Cambria" pitchFamily="34" charset="-122"/>
                <a:cs typeface="Cambria" pitchFamily="34" charset="-120"/>
              </a:rPr>
              <a:t>Site Planning &amp; Connectivity</a:t>
            </a:r>
            <a:endParaRPr lang="en-US" sz="3000" dirty="0"/>
          </a:p>
        </p:txBody>
      </p:sp>
      <p:sp>
        <p:nvSpPr>
          <p:cNvPr id="4" name="Shape 2"/>
          <p:cNvSpPr/>
          <p:nvPr/>
        </p:nvSpPr>
        <p:spPr>
          <a:xfrm>
            <a:off x="11064240" y="502920"/>
            <a:ext cx="100584" cy="130759"/>
          </a:xfrm>
          <a:prstGeom prst="triangle">
            <a:avLst/>
          </a:prstGeom>
          <a:solidFill>
            <a:srgbClr val="B85042"/>
          </a:solidFill>
          <a:ln/>
        </p:spPr>
      </p:sp>
      <p:sp>
        <p:nvSpPr>
          <p:cNvPr id="5" name="Shape 3"/>
          <p:cNvSpPr/>
          <p:nvPr/>
        </p:nvSpPr>
        <p:spPr>
          <a:xfrm>
            <a:off x="11192256" y="502920"/>
            <a:ext cx="100584" cy="130759"/>
          </a:xfrm>
          <a:prstGeom prst="triangle">
            <a:avLst/>
          </a:prstGeom>
          <a:solidFill>
            <a:srgbClr val="B85042"/>
          </a:solidFill>
          <a:ln/>
        </p:spPr>
      </p:sp>
      <p:sp>
        <p:nvSpPr>
          <p:cNvPr id="6" name="Shape 4"/>
          <p:cNvSpPr/>
          <p:nvPr/>
        </p:nvSpPr>
        <p:spPr>
          <a:xfrm>
            <a:off x="11320272" y="502920"/>
            <a:ext cx="100584" cy="130759"/>
          </a:xfrm>
          <a:prstGeom prst="triangle">
            <a:avLst/>
          </a:prstGeom>
          <a:solidFill>
            <a:srgbClr val="B85042"/>
          </a:solidFill>
          <a:ln/>
        </p:spPr>
      </p:sp>
      <p:sp>
        <p:nvSpPr>
          <p:cNvPr id="7" name="Text 5"/>
          <p:cNvSpPr txBox="1"/>
          <p:nvPr/>
        </p:nvSpPr>
        <p:spPr>
          <a:xfrm>
            <a:off x="548640" y="1965960"/>
            <a:ext cx="6675120" cy="3657600"/>
          </a:xfrm>
          <a:prstGeom prst="rect">
            <a:avLst/>
          </a:prstGeom>
          <a:noFill/>
          <a:ln/>
        </p:spPr>
        <p:txBody>
          <a:bodyPr wrap="square" lIns="0" tIns="0" rIns="0" bIns="0" rtlCol="0" anchor="t"/>
          <a:lstStyle/>
          <a:p>
            <a:pPr marL="228600" indent="-228600">
              <a:spcAft>
                <a:spcPts val="1400"/>
              </a:spcAft>
              <a:buSzPct val="100000"/>
              <a:buChar char="▪"/>
            </a:pPr>
            <a:r>
              <a:rPr lang="en-US" sz="1500" dirty="0">
                <a:solidFill>
                  <a:srgbClr val="2B1B12"/>
                </a:solidFill>
                <a:latin typeface="Calibri" pitchFamily="34" charset="0"/>
                <a:ea typeface="Calibri" pitchFamily="34" charset="-122"/>
                <a:cs typeface="Calibri" pitchFamily="34" charset="-120"/>
              </a:rPr>
              <a:t>Seamless connectivity via four welcome halls and access ramps serving B1/B3.</a:t>
            </a:r>
            <a:endParaRPr lang="en-US" sz="1500" dirty="0"/>
          </a:p>
          <a:p>
            <a:pPr marL="228600" indent="-228600">
              <a:spcAft>
                <a:spcPts val="1400"/>
              </a:spcAft>
              <a:buSzPct val="100000"/>
              <a:buChar char="▪"/>
            </a:pPr>
            <a:r>
              <a:rPr lang="en-US" sz="1500" dirty="0">
                <a:solidFill>
                  <a:srgbClr val="2B1B12"/>
                </a:solidFill>
                <a:latin typeface="Calibri" pitchFamily="34" charset="0"/>
                <a:ea typeface="Calibri" pitchFamily="34" charset="-122"/>
                <a:cs typeface="Calibri" pitchFamily="34" charset="-120"/>
              </a:rPr>
              <a:t>Designated Service Yard integrated into site logistics.</a:t>
            </a:r>
            <a:endParaRPr lang="en-US" sz="1500" dirty="0"/>
          </a:p>
          <a:p>
            <a:pPr marL="228600" indent="-228600">
              <a:spcAft>
                <a:spcPts val="1400"/>
              </a:spcAft>
              <a:buSzPct val="100000"/>
              <a:buChar char="▪"/>
            </a:pPr>
            <a:r>
              <a:rPr lang="en-US" sz="1500" dirty="0">
                <a:solidFill>
                  <a:srgbClr val="2B1B12"/>
                </a:solidFill>
                <a:latin typeface="Calibri" pitchFamily="34" charset="0"/>
                <a:ea typeface="Calibri" pitchFamily="34" charset="-122"/>
                <a:cs typeface="Calibri" pitchFamily="34" charset="-120"/>
              </a:rPr>
              <a:t>Project situated on desert terrain with elevations ranging from +656.280 to +657.587.</a:t>
            </a:r>
            <a:endParaRPr lang="en-US" sz="1500" dirty="0"/>
          </a:p>
        </p:txBody>
      </p:sp>
      <p:sp>
        <p:nvSpPr>
          <p:cNvPr id="8" name="Shape 6"/>
          <p:cNvSpPr/>
          <p:nvPr/>
        </p:nvSpPr>
        <p:spPr>
          <a:xfrm>
            <a:off x="7589520" y="1965960"/>
            <a:ext cx="4023360" cy="1737360"/>
          </a:xfrm>
          <a:prstGeom prst="roundRect">
            <a:avLst>
              <a:gd name="adj" fmla="val 6316"/>
            </a:avLst>
          </a:prstGeom>
          <a:solidFill>
            <a:srgbClr val="B85042"/>
          </a:solidFill>
          <a:ln/>
        </p:spPr>
      </p:sp>
      <p:sp>
        <p:nvSpPr>
          <p:cNvPr id="9" name="Text 7"/>
          <p:cNvSpPr txBox="1"/>
          <p:nvPr/>
        </p:nvSpPr>
        <p:spPr>
          <a:xfrm>
            <a:off x="7863840" y="2194560"/>
            <a:ext cx="3474720" cy="320040"/>
          </a:xfrm>
          <a:prstGeom prst="rect">
            <a:avLst/>
          </a:prstGeom>
          <a:noFill/>
          <a:ln/>
        </p:spPr>
        <p:txBody>
          <a:bodyPr wrap="square" lIns="0" tIns="0" rIns="0" bIns="0" rtlCol="0" anchor="ctr"/>
          <a:lstStyle/>
          <a:p>
            <a:pPr indent="0" marL="0">
              <a:buNone/>
            </a:pPr>
            <a:r>
              <a:rPr lang="en-US" sz="1000" b="1" spc="200" kern="0" dirty="0">
                <a:solidFill>
                  <a:srgbClr val="F2E9DD"/>
                </a:solidFill>
                <a:latin typeface="Calibri" pitchFamily="34" charset="0"/>
                <a:ea typeface="Calibri" pitchFamily="34" charset="-122"/>
                <a:cs typeface="Calibri" pitchFamily="34" charset="-120"/>
              </a:rPr>
              <a:t>ELEVATION RANGE</a:t>
            </a:r>
            <a:endParaRPr lang="en-US" sz="1000" dirty="0"/>
          </a:p>
        </p:txBody>
      </p:sp>
      <p:sp>
        <p:nvSpPr>
          <p:cNvPr id="10" name="Text 8"/>
          <p:cNvSpPr txBox="1"/>
          <p:nvPr/>
        </p:nvSpPr>
        <p:spPr>
          <a:xfrm>
            <a:off x="7863840" y="2560320"/>
            <a:ext cx="3474720" cy="640080"/>
          </a:xfrm>
          <a:prstGeom prst="rect">
            <a:avLst/>
          </a:prstGeom>
          <a:noFill/>
          <a:ln/>
        </p:spPr>
        <p:txBody>
          <a:bodyPr wrap="square" lIns="0" tIns="0" rIns="0" bIns="0" rtlCol="0" anchor="ctr"/>
          <a:lstStyle/>
          <a:p>
            <a:pPr indent="0" marL="0">
              <a:buNone/>
            </a:pPr>
            <a:r>
              <a:rPr lang="en-US" sz="1900" b="1" dirty="0">
                <a:solidFill>
                  <a:srgbClr val="FBF7F2"/>
                </a:solidFill>
                <a:latin typeface="Cambria" pitchFamily="34" charset="0"/>
                <a:ea typeface="Cambria" pitchFamily="34" charset="-122"/>
                <a:cs typeface="Cambria" pitchFamily="34" charset="-120"/>
              </a:rPr>
              <a:t>+656.28 — +657.59</a:t>
            </a:r>
            <a:endParaRPr lang="en-US" sz="1900" dirty="0"/>
          </a:p>
        </p:txBody>
      </p:sp>
      <p:sp>
        <p:nvSpPr>
          <p:cNvPr id="11" name="Text 9"/>
          <p:cNvSpPr txBox="1"/>
          <p:nvPr/>
        </p:nvSpPr>
        <p:spPr>
          <a:xfrm>
            <a:off x="7863840" y="3200400"/>
            <a:ext cx="3474720" cy="365760"/>
          </a:xfrm>
          <a:prstGeom prst="rect">
            <a:avLst/>
          </a:prstGeom>
          <a:noFill/>
          <a:ln/>
        </p:spPr>
        <p:txBody>
          <a:bodyPr wrap="square" lIns="0" tIns="0" rIns="0" bIns="0" rtlCol="0" anchor="ctr"/>
          <a:lstStyle/>
          <a:p>
            <a:pPr indent="0" marL="0">
              <a:buNone/>
            </a:pPr>
            <a:r>
              <a:rPr lang="en-US" sz="1100" i="1" dirty="0">
                <a:solidFill>
                  <a:srgbClr val="F2E9DD"/>
                </a:solidFill>
                <a:latin typeface="Calibri" pitchFamily="34" charset="0"/>
                <a:ea typeface="Calibri" pitchFamily="34" charset="-122"/>
                <a:cs typeface="Calibri" pitchFamily="34" charset="-120"/>
              </a:rPr>
              <a:t>meters, desert terrain</a:t>
            </a:r>
            <a:endParaRPr lang="en-US" sz="1100" dirty="0"/>
          </a:p>
        </p:txBody>
      </p:sp>
      <p:sp>
        <p:nvSpPr>
          <p:cNvPr id="12" name="Shape 10"/>
          <p:cNvSpPr/>
          <p:nvPr/>
        </p:nvSpPr>
        <p:spPr>
          <a:xfrm>
            <a:off x="7589520" y="3886200"/>
            <a:ext cx="4023360" cy="1691640"/>
          </a:xfrm>
          <a:prstGeom prst="roundRect">
            <a:avLst>
              <a:gd name="adj" fmla="val 6486"/>
            </a:avLst>
          </a:prstGeom>
          <a:solidFill>
            <a:srgbClr val="2B1B12"/>
          </a:solidFill>
          <a:ln/>
        </p:spPr>
      </p:sp>
      <p:sp>
        <p:nvSpPr>
          <p:cNvPr id="13" name="Text 11"/>
          <p:cNvSpPr txBox="1"/>
          <p:nvPr/>
        </p:nvSpPr>
        <p:spPr>
          <a:xfrm>
            <a:off x="7863840" y="4114800"/>
            <a:ext cx="3474720" cy="320040"/>
          </a:xfrm>
          <a:prstGeom prst="rect">
            <a:avLst/>
          </a:prstGeom>
          <a:noFill/>
          <a:ln/>
        </p:spPr>
        <p:txBody>
          <a:bodyPr wrap="square" lIns="0" tIns="0" rIns="0" bIns="0" rtlCol="0" anchor="ctr"/>
          <a:lstStyle/>
          <a:p>
            <a:pPr indent="0" marL="0">
              <a:buNone/>
            </a:pPr>
            <a:r>
              <a:rPr lang="en-US" sz="1000" b="1" spc="200" kern="0" dirty="0">
                <a:solidFill>
                  <a:srgbClr val="B85042"/>
                </a:solidFill>
                <a:latin typeface="Calibri" pitchFamily="34" charset="0"/>
                <a:ea typeface="Calibri" pitchFamily="34" charset="-122"/>
                <a:cs typeface="Calibri" pitchFamily="34" charset="-120"/>
              </a:rPr>
              <a:t>ACCESS</a:t>
            </a:r>
            <a:endParaRPr lang="en-US" sz="1000" dirty="0"/>
          </a:p>
        </p:txBody>
      </p:sp>
      <p:sp>
        <p:nvSpPr>
          <p:cNvPr id="14" name="Text 12"/>
          <p:cNvSpPr txBox="1"/>
          <p:nvPr/>
        </p:nvSpPr>
        <p:spPr>
          <a:xfrm>
            <a:off x="7863840" y="4434840"/>
            <a:ext cx="3474720" cy="1005840"/>
          </a:xfrm>
          <a:prstGeom prst="rect">
            <a:avLst/>
          </a:prstGeom>
          <a:noFill/>
          <a:ln/>
        </p:spPr>
        <p:txBody>
          <a:bodyPr wrap="square" lIns="0" tIns="0" rIns="0" bIns="0" rtlCol="0" anchor="ctr"/>
          <a:lstStyle/>
          <a:p>
            <a:pPr indent="0" marL="0">
              <a:lnSpc>
                <a:spcPct val="120000"/>
              </a:lnSpc>
              <a:buNone/>
            </a:pPr>
            <a:r>
              <a:rPr lang="en-US" sz="1700" b="1" dirty="0">
                <a:solidFill>
                  <a:srgbClr val="FBF7F2"/>
                </a:solidFill>
                <a:latin typeface="Cambria" pitchFamily="34" charset="0"/>
                <a:ea typeface="Cambria" pitchFamily="34" charset="-122"/>
                <a:cs typeface="Cambria" pitchFamily="34" charset="-120"/>
              </a:rPr>
              <a:t>4 welcome halls</a:t>
            </a:r>
            <a:endParaRPr lang="en-US" sz="1700" dirty="0"/>
          </a:p>
          <a:p>
            <a:pPr indent="0" marL="0">
              <a:lnSpc>
                <a:spcPct val="120000"/>
              </a:lnSpc>
              <a:buNone/>
            </a:pPr>
            <a:r>
              <a:rPr lang="en-US" sz="1700" b="1" dirty="0">
                <a:solidFill>
                  <a:srgbClr val="FBF7F2"/>
                </a:solidFill>
                <a:latin typeface="Cambria" pitchFamily="34" charset="0"/>
                <a:ea typeface="Cambria" pitchFamily="34" charset="-122"/>
                <a:cs typeface="Cambria" pitchFamily="34" charset="-120"/>
              </a:rPr>
              <a:t>B1–B3 ramps</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7F2"/>
        </a:solidFill>
      </p:bgPr>
    </p:bg>
    <p:spTree>
      <p:nvGrpSpPr>
        <p:cNvPr id="1" name=""/>
        <p:cNvGrpSpPr/>
        <p:nvPr/>
      </p:nvGrpSpPr>
      <p:grpSpPr>
        <a:xfrm>
          <a:off x="0" y="0"/>
          <a:ext cx="0" cy="0"/>
          <a:chOff x="0" y="0"/>
          <a:chExt cx="0" cy="0"/>
        </a:xfrm>
      </p:grpSpPr>
      <p:sp>
        <p:nvSpPr>
          <p:cNvPr id="2" name="Text 0"/>
          <p:cNvSpPr txBox="1"/>
          <p:nvPr/>
        </p:nvSpPr>
        <p:spPr>
          <a:xfrm>
            <a:off x="548640" y="411480"/>
            <a:ext cx="1097280" cy="457200"/>
          </a:xfrm>
          <a:prstGeom prst="rect">
            <a:avLst/>
          </a:prstGeom>
          <a:noFill/>
          <a:ln/>
        </p:spPr>
        <p:txBody>
          <a:bodyPr wrap="square" lIns="0" tIns="0" rIns="0" bIns="0" rtlCol="0" anchor="ctr"/>
          <a:lstStyle/>
          <a:p>
            <a:pPr indent="0" marL="0">
              <a:buNone/>
            </a:pPr>
            <a:r>
              <a:rPr lang="en-US" sz="1400" b="1" dirty="0">
                <a:solidFill>
                  <a:srgbClr val="8FA998"/>
                </a:solidFill>
                <a:latin typeface="Cambria" pitchFamily="34" charset="0"/>
                <a:ea typeface="Cambria" pitchFamily="34" charset="-122"/>
                <a:cs typeface="Cambria" pitchFamily="34" charset="-120"/>
              </a:rPr>
              <a:t>05</a:t>
            </a:r>
            <a:endParaRPr lang="en-US" sz="1400" dirty="0"/>
          </a:p>
        </p:txBody>
      </p:sp>
      <p:sp>
        <p:nvSpPr>
          <p:cNvPr id="3" name="Text 1"/>
          <p:cNvSpPr txBox="1"/>
          <p:nvPr/>
        </p:nvSpPr>
        <p:spPr>
          <a:xfrm>
            <a:off x="548640" y="777240"/>
            <a:ext cx="10881360" cy="777240"/>
          </a:xfrm>
          <a:prstGeom prst="rect">
            <a:avLst/>
          </a:prstGeom>
          <a:noFill/>
          <a:ln/>
        </p:spPr>
        <p:txBody>
          <a:bodyPr wrap="square" lIns="0" tIns="0" rIns="0" bIns="0" rtlCol="0" anchor="ctr"/>
          <a:lstStyle/>
          <a:p>
            <a:pPr indent="0" marL="0">
              <a:buNone/>
            </a:pPr>
            <a:r>
              <a:rPr lang="en-US" sz="3000" b="1" dirty="0">
                <a:solidFill>
                  <a:srgbClr val="2B1B12"/>
                </a:solidFill>
                <a:latin typeface="Cambria" pitchFamily="34" charset="0"/>
                <a:ea typeface="Cambria" pitchFamily="34" charset="-122"/>
                <a:cs typeface="Cambria" pitchFamily="34" charset="-120"/>
              </a:rPr>
              <a:t>Technical &amp; Structural Specifications</a:t>
            </a:r>
            <a:endParaRPr lang="en-US" sz="3000" dirty="0"/>
          </a:p>
        </p:txBody>
      </p:sp>
      <p:sp>
        <p:nvSpPr>
          <p:cNvPr id="4" name="Shape 2"/>
          <p:cNvSpPr/>
          <p:nvPr/>
        </p:nvSpPr>
        <p:spPr>
          <a:xfrm>
            <a:off x="11064240" y="502920"/>
            <a:ext cx="100584" cy="130759"/>
          </a:xfrm>
          <a:prstGeom prst="triangle">
            <a:avLst/>
          </a:prstGeom>
          <a:solidFill>
            <a:srgbClr val="B85042"/>
          </a:solidFill>
          <a:ln/>
        </p:spPr>
      </p:sp>
      <p:sp>
        <p:nvSpPr>
          <p:cNvPr id="5" name="Shape 3"/>
          <p:cNvSpPr/>
          <p:nvPr/>
        </p:nvSpPr>
        <p:spPr>
          <a:xfrm>
            <a:off x="11192256" y="502920"/>
            <a:ext cx="100584" cy="130759"/>
          </a:xfrm>
          <a:prstGeom prst="triangle">
            <a:avLst/>
          </a:prstGeom>
          <a:solidFill>
            <a:srgbClr val="B85042"/>
          </a:solidFill>
          <a:ln/>
        </p:spPr>
      </p:sp>
      <p:sp>
        <p:nvSpPr>
          <p:cNvPr id="6" name="Shape 4"/>
          <p:cNvSpPr/>
          <p:nvPr/>
        </p:nvSpPr>
        <p:spPr>
          <a:xfrm>
            <a:off x="11320272" y="502920"/>
            <a:ext cx="100584" cy="130759"/>
          </a:xfrm>
          <a:prstGeom prst="triangle">
            <a:avLst/>
          </a:prstGeom>
          <a:solidFill>
            <a:srgbClr val="B85042"/>
          </a:solidFill>
          <a:ln/>
        </p:spPr>
      </p:sp>
      <p:sp>
        <p:nvSpPr>
          <p:cNvPr id="7" name="Shape 5"/>
          <p:cNvSpPr/>
          <p:nvPr/>
        </p:nvSpPr>
        <p:spPr>
          <a:xfrm>
            <a:off x="548640" y="1965960"/>
            <a:ext cx="3429000" cy="2103120"/>
          </a:xfrm>
          <a:prstGeom prst="roundRect">
            <a:avLst>
              <a:gd name="adj" fmla="val 5217"/>
            </a:avLst>
          </a:prstGeom>
          <a:solidFill>
            <a:srgbClr val="B85042"/>
          </a:solidFill>
          <a:ln/>
        </p:spPr>
      </p:sp>
      <p:sp>
        <p:nvSpPr>
          <p:cNvPr id="8" name="Text 6"/>
          <p:cNvSpPr txBox="1"/>
          <p:nvPr/>
        </p:nvSpPr>
        <p:spPr>
          <a:xfrm>
            <a:off x="548640" y="2148840"/>
            <a:ext cx="3429000" cy="1051560"/>
          </a:xfrm>
          <a:prstGeom prst="rect">
            <a:avLst/>
          </a:prstGeom>
          <a:noFill/>
          <a:ln/>
        </p:spPr>
        <p:txBody>
          <a:bodyPr wrap="square" lIns="0" tIns="0" rIns="0" bIns="0" rtlCol="0" anchor="ctr"/>
          <a:lstStyle/>
          <a:p>
            <a:pPr algn="ctr" indent="0" marL="0">
              <a:buNone/>
            </a:pPr>
            <a:r>
              <a:rPr lang="en-US" sz="5400" b="1" dirty="0">
                <a:solidFill>
                  <a:srgbClr val="FBF7F2"/>
                </a:solidFill>
                <a:latin typeface="Cambria" pitchFamily="34" charset="0"/>
                <a:ea typeface="Cambria" pitchFamily="34" charset="-122"/>
                <a:cs typeface="Cambria" pitchFamily="34" charset="-120"/>
              </a:rPr>
              <a:t>107.5</a:t>
            </a:r>
            <a:endParaRPr lang="en-US" sz="5400" dirty="0"/>
          </a:p>
        </p:txBody>
      </p:sp>
      <p:sp>
        <p:nvSpPr>
          <p:cNvPr id="9" name="Text 7"/>
          <p:cNvSpPr txBox="1"/>
          <p:nvPr/>
        </p:nvSpPr>
        <p:spPr>
          <a:xfrm>
            <a:off x="548640" y="3154680"/>
            <a:ext cx="3429000" cy="365760"/>
          </a:xfrm>
          <a:prstGeom prst="rect">
            <a:avLst/>
          </a:prstGeom>
          <a:noFill/>
          <a:ln/>
        </p:spPr>
        <p:txBody>
          <a:bodyPr wrap="square" lIns="0" tIns="0" rIns="0" bIns="0" rtlCol="0" anchor="ctr"/>
          <a:lstStyle/>
          <a:p>
            <a:pPr algn="ctr" indent="0" marL="0">
              <a:buNone/>
            </a:pPr>
            <a:r>
              <a:rPr lang="en-US" sz="1400" b="1" spc="200" kern="0" dirty="0">
                <a:solidFill>
                  <a:srgbClr val="FBF7F2"/>
                </a:solidFill>
                <a:latin typeface="Calibri" pitchFamily="34" charset="0"/>
                <a:ea typeface="Calibri" pitchFamily="34" charset="-122"/>
                <a:cs typeface="Calibri" pitchFamily="34" charset="-120"/>
              </a:rPr>
              <a:t>KPA</a:t>
            </a:r>
            <a:endParaRPr lang="en-US" sz="1400" dirty="0"/>
          </a:p>
        </p:txBody>
      </p:sp>
      <p:sp>
        <p:nvSpPr>
          <p:cNvPr id="10" name="Text 8"/>
          <p:cNvSpPr txBox="1"/>
          <p:nvPr/>
        </p:nvSpPr>
        <p:spPr>
          <a:xfrm>
            <a:off x="548640" y="3566160"/>
            <a:ext cx="3429000" cy="457200"/>
          </a:xfrm>
          <a:prstGeom prst="rect">
            <a:avLst/>
          </a:prstGeom>
          <a:noFill/>
          <a:ln/>
        </p:spPr>
        <p:txBody>
          <a:bodyPr wrap="square" lIns="0" tIns="0" rIns="0" bIns="0" rtlCol="0" anchor="ctr"/>
          <a:lstStyle/>
          <a:p>
            <a:pPr algn="ctr" indent="0" marL="0">
              <a:buNone/>
            </a:pPr>
            <a:r>
              <a:rPr lang="en-US" sz="1100" dirty="0">
                <a:solidFill>
                  <a:srgbClr val="FBF7F2"/>
                </a:solidFill>
                <a:latin typeface="Calibri" pitchFamily="34" charset="0"/>
                <a:ea typeface="Calibri" pitchFamily="34" charset="-122"/>
                <a:cs typeface="Calibri" pitchFamily="34" charset="-120"/>
              </a:rPr>
              <a:t>G+3 structure live load</a:t>
            </a:r>
            <a:endParaRPr lang="en-US" sz="1100" dirty="0"/>
          </a:p>
        </p:txBody>
      </p:sp>
      <p:sp>
        <p:nvSpPr>
          <p:cNvPr id="11" name="Shape 9"/>
          <p:cNvSpPr/>
          <p:nvPr/>
        </p:nvSpPr>
        <p:spPr>
          <a:xfrm>
            <a:off x="4251960" y="1965960"/>
            <a:ext cx="3429000" cy="2103120"/>
          </a:xfrm>
          <a:prstGeom prst="roundRect">
            <a:avLst>
              <a:gd name="adj" fmla="val 5217"/>
            </a:avLst>
          </a:prstGeom>
          <a:solidFill>
            <a:srgbClr val="8FA998"/>
          </a:solidFill>
          <a:ln/>
        </p:spPr>
      </p:sp>
      <p:sp>
        <p:nvSpPr>
          <p:cNvPr id="12" name="Text 10"/>
          <p:cNvSpPr txBox="1"/>
          <p:nvPr/>
        </p:nvSpPr>
        <p:spPr>
          <a:xfrm>
            <a:off x="4251960" y="2148840"/>
            <a:ext cx="3429000" cy="1051560"/>
          </a:xfrm>
          <a:prstGeom prst="rect">
            <a:avLst/>
          </a:prstGeom>
          <a:noFill/>
          <a:ln/>
        </p:spPr>
        <p:txBody>
          <a:bodyPr wrap="square" lIns="0" tIns="0" rIns="0" bIns="0" rtlCol="0" anchor="ctr"/>
          <a:lstStyle/>
          <a:p>
            <a:pPr algn="ctr" indent="0" marL="0">
              <a:buNone/>
            </a:pPr>
            <a:r>
              <a:rPr lang="en-US" sz="5400" b="1" dirty="0">
                <a:solidFill>
                  <a:srgbClr val="FBF7F2"/>
                </a:solidFill>
                <a:latin typeface="Cambria" pitchFamily="34" charset="0"/>
                <a:ea typeface="Cambria" pitchFamily="34" charset="-122"/>
                <a:cs typeface="Cambria" pitchFamily="34" charset="-120"/>
              </a:rPr>
              <a:t>50.0</a:t>
            </a:r>
            <a:endParaRPr lang="en-US" sz="5400" dirty="0"/>
          </a:p>
        </p:txBody>
      </p:sp>
      <p:sp>
        <p:nvSpPr>
          <p:cNvPr id="13" name="Text 11"/>
          <p:cNvSpPr txBox="1"/>
          <p:nvPr/>
        </p:nvSpPr>
        <p:spPr>
          <a:xfrm>
            <a:off x="4251960" y="3154680"/>
            <a:ext cx="3429000" cy="365760"/>
          </a:xfrm>
          <a:prstGeom prst="rect">
            <a:avLst/>
          </a:prstGeom>
          <a:noFill/>
          <a:ln/>
        </p:spPr>
        <p:txBody>
          <a:bodyPr wrap="square" lIns="0" tIns="0" rIns="0" bIns="0" rtlCol="0" anchor="ctr"/>
          <a:lstStyle/>
          <a:p>
            <a:pPr algn="ctr" indent="0" marL="0">
              <a:buNone/>
            </a:pPr>
            <a:r>
              <a:rPr lang="en-US" sz="1400" b="1" spc="200" kern="0" dirty="0">
                <a:solidFill>
                  <a:srgbClr val="FBF7F2"/>
                </a:solidFill>
                <a:latin typeface="Calibri" pitchFamily="34" charset="0"/>
                <a:ea typeface="Calibri" pitchFamily="34" charset="-122"/>
                <a:cs typeface="Calibri" pitchFamily="34" charset="-120"/>
              </a:rPr>
              <a:t>KPA</a:t>
            </a:r>
            <a:endParaRPr lang="en-US" sz="1400" dirty="0"/>
          </a:p>
        </p:txBody>
      </p:sp>
      <p:sp>
        <p:nvSpPr>
          <p:cNvPr id="14" name="Text 12"/>
          <p:cNvSpPr txBox="1"/>
          <p:nvPr/>
        </p:nvSpPr>
        <p:spPr>
          <a:xfrm>
            <a:off x="4251960" y="3566160"/>
            <a:ext cx="3429000" cy="457200"/>
          </a:xfrm>
          <a:prstGeom prst="rect">
            <a:avLst/>
          </a:prstGeom>
          <a:noFill/>
          <a:ln/>
        </p:spPr>
        <p:txBody>
          <a:bodyPr wrap="square" lIns="0" tIns="0" rIns="0" bIns="0" rtlCol="0" anchor="ctr"/>
          <a:lstStyle/>
          <a:p>
            <a:pPr algn="ctr" indent="0" marL="0">
              <a:buNone/>
            </a:pPr>
            <a:r>
              <a:rPr lang="en-US" sz="1100" dirty="0">
                <a:solidFill>
                  <a:srgbClr val="FBF7F2"/>
                </a:solidFill>
                <a:latin typeface="Calibri" pitchFamily="34" charset="0"/>
                <a:ea typeface="Calibri" pitchFamily="34" charset="-122"/>
                <a:cs typeface="Calibri" pitchFamily="34" charset="-120"/>
              </a:rPr>
              <a:t>On-grade areas live load</a:t>
            </a:r>
            <a:endParaRPr lang="en-US" sz="1100" dirty="0"/>
          </a:p>
        </p:txBody>
      </p:sp>
      <p:sp>
        <p:nvSpPr>
          <p:cNvPr id="15" name="Text 13"/>
          <p:cNvSpPr txBox="1"/>
          <p:nvPr/>
        </p:nvSpPr>
        <p:spPr>
          <a:xfrm>
            <a:off x="548640" y="4572000"/>
            <a:ext cx="6583680" cy="914400"/>
          </a:xfrm>
          <a:prstGeom prst="rect">
            <a:avLst/>
          </a:prstGeom>
          <a:noFill/>
          <a:ln/>
        </p:spPr>
        <p:txBody>
          <a:bodyPr wrap="square" lIns="0" tIns="0" rIns="0" bIns="0" rtlCol="0" anchor="ctr"/>
          <a:lstStyle/>
          <a:p>
            <a:pPr indent="0" marL="0">
              <a:lnSpc>
                <a:spcPct val="130000"/>
              </a:lnSpc>
              <a:buNone/>
            </a:pPr>
            <a:r>
              <a:rPr lang="en-US" sz="1300" i="1" dirty="0">
                <a:solidFill>
                  <a:srgbClr val="2B1B12"/>
                </a:solidFill>
                <a:latin typeface="Calibri" pitchFamily="34" charset="0"/>
                <a:ea typeface="Calibri" pitchFamily="34" charset="-122"/>
                <a:cs typeface="Calibri" pitchFamily="34" charset="-120"/>
              </a:rPr>
              <a:t>Design accommodates varying storey heights. Roof design: flat and accessible.</a:t>
            </a:r>
            <a:endParaRPr lang="en-US" sz="1300" dirty="0"/>
          </a:p>
          <a:p>
            <a:pPr indent="0" marL="0">
              <a:lnSpc>
                <a:spcPct val="130000"/>
              </a:lnSpc>
              <a:buNone/>
            </a:pPr>
            <a:r>
              <a:rPr lang="en-US" sz="1300" i="1" dirty="0">
                <a:solidFill>
                  <a:srgbClr val="2B1B12"/>
                </a:solidFill>
                <a:latin typeface="Calibri" pitchFamily="34" charset="0"/>
                <a:ea typeface="Calibri" pitchFamily="34" charset="-122"/>
                <a:cs typeface="Calibri" pitchFamily="34" charset="-120"/>
              </a:rPr>
              <a:t>Source: Page 19.</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7F2"/>
        </a:solidFill>
      </p:bgPr>
    </p:bg>
    <p:spTree>
      <p:nvGrpSpPr>
        <p:cNvPr id="1" name=""/>
        <p:cNvGrpSpPr/>
        <p:nvPr/>
      </p:nvGrpSpPr>
      <p:grpSpPr>
        <a:xfrm>
          <a:off x="0" y="0"/>
          <a:ext cx="0" cy="0"/>
          <a:chOff x="0" y="0"/>
          <a:chExt cx="0" cy="0"/>
        </a:xfrm>
      </p:grpSpPr>
      <p:sp>
        <p:nvSpPr>
          <p:cNvPr id="2" name="Text 0"/>
          <p:cNvSpPr txBox="1"/>
          <p:nvPr/>
        </p:nvSpPr>
        <p:spPr>
          <a:xfrm>
            <a:off x="548640" y="411480"/>
            <a:ext cx="1097280" cy="457200"/>
          </a:xfrm>
          <a:prstGeom prst="rect">
            <a:avLst/>
          </a:prstGeom>
          <a:noFill/>
          <a:ln/>
        </p:spPr>
        <p:txBody>
          <a:bodyPr wrap="square" lIns="0" tIns="0" rIns="0" bIns="0" rtlCol="0" anchor="ctr"/>
          <a:lstStyle/>
          <a:p>
            <a:pPr indent="0" marL="0">
              <a:buNone/>
            </a:pPr>
            <a:r>
              <a:rPr lang="en-US" sz="1400" b="1" dirty="0">
                <a:solidFill>
                  <a:srgbClr val="8FA998"/>
                </a:solidFill>
                <a:latin typeface="Cambria" pitchFamily="34" charset="0"/>
                <a:ea typeface="Cambria" pitchFamily="34" charset="-122"/>
                <a:cs typeface="Cambria" pitchFamily="34" charset="-120"/>
              </a:rPr>
              <a:t>06</a:t>
            </a:r>
            <a:endParaRPr lang="en-US" sz="1400" dirty="0"/>
          </a:p>
        </p:txBody>
      </p:sp>
      <p:sp>
        <p:nvSpPr>
          <p:cNvPr id="3" name="Text 1"/>
          <p:cNvSpPr txBox="1"/>
          <p:nvPr/>
        </p:nvSpPr>
        <p:spPr>
          <a:xfrm>
            <a:off x="548640" y="777240"/>
            <a:ext cx="10881360" cy="777240"/>
          </a:xfrm>
          <a:prstGeom prst="rect">
            <a:avLst/>
          </a:prstGeom>
          <a:noFill/>
          <a:ln/>
        </p:spPr>
        <p:txBody>
          <a:bodyPr wrap="square" lIns="0" tIns="0" rIns="0" bIns="0" rtlCol="0" anchor="ctr"/>
          <a:lstStyle/>
          <a:p>
            <a:pPr indent="0" marL="0">
              <a:buNone/>
            </a:pPr>
            <a:r>
              <a:rPr lang="en-US" sz="3000" b="1" dirty="0">
                <a:solidFill>
                  <a:srgbClr val="2B1B12"/>
                </a:solidFill>
                <a:latin typeface="Cambria" pitchFamily="34" charset="0"/>
                <a:ea typeface="Cambria" pitchFamily="34" charset="-122"/>
                <a:cs typeface="Cambria" pitchFamily="34" charset="-120"/>
              </a:rPr>
              <a:t>Sustainability Strategy</a:t>
            </a:r>
            <a:endParaRPr lang="en-US" sz="3000" dirty="0"/>
          </a:p>
        </p:txBody>
      </p:sp>
      <p:sp>
        <p:nvSpPr>
          <p:cNvPr id="4" name="Shape 2"/>
          <p:cNvSpPr/>
          <p:nvPr/>
        </p:nvSpPr>
        <p:spPr>
          <a:xfrm>
            <a:off x="11064240" y="502920"/>
            <a:ext cx="100584" cy="130759"/>
          </a:xfrm>
          <a:prstGeom prst="triangle">
            <a:avLst/>
          </a:prstGeom>
          <a:solidFill>
            <a:srgbClr val="B85042"/>
          </a:solidFill>
          <a:ln/>
        </p:spPr>
      </p:sp>
      <p:sp>
        <p:nvSpPr>
          <p:cNvPr id="5" name="Shape 3"/>
          <p:cNvSpPr/>
          <p:nvPr/>
        </p:nvSpPr>
        <p:spPr>
          <a:xfrm>
            <a:off x="11192256" y="502920"/>
            <a:ext cx="100584" cy="130759"/>
          </a:xfrm>
          <a:prstGeom prst="triangle">
            <a:avLst/>
          </a:prstGeom>
          <a:solidFill>
            <a:srgbClr val="B85042"/>
          </a:solidFill>
          <a:ln/>
        </p:spPr>
      </p:sp>
      <p:sp>
        <p:nvSpPr>
          <p:cNvPr id="6" name="Shape 4"/>
          <p:cNvSpPr/>
          <p:nvPr/>
        </p:nvSpPr>
        <p:spPr>
          <a:xfrm>
            <a:off x="11320272" y="502920"/>
            <a:ext cx="100584" cy="130759"/>
          </a:xfrm>
          <a:prstGeom prst="triangle">
            <a:avLst/>
          </a:prstGeom>
          <a:solidFill>
            <a:srgbClr val="B85042"/>
          </a:solidFill>
          <a:ln/>
        </p:spPr>
      </p:sp>
      <p:sp>
        <p:nvSpPr>
          <p:cNvPr id="7" name="Shape 5"/>
          <p:cNvSpPr/>
          <p:nvPr/>
        </p:nvSpPr>
        <p:spPr>
          <a:xfrm>
            <a:off x="548640" y="2011680"/>
            <a:ext cx="3383280" cy="2011680"/>
          </a:xfrm>
          <a:prstGeom prst="roundRect">
            <a:avLst>
              <a:gd name="adj" fmla="val 5455"/>
            </a:avLst>
          </a:prstGeom>
          <a:solidFill>
            <a:srgbClr val="F2E9DD"/>
          </a:solidFill>
          <a:ln w="19050">
            <a:solidFill>
              <a:srgbClr val="B85042"/>
            </a:solidFill>
            <a:prstDash val="solid"/>
          </a:ln>
        </p:spPr>
      </p:sp>
      <p:sp>
        <p:nvSpPr>
          <p:cNvPr id="8" name="Shape 6"/>
          <p:cNvSpPr/>
          <p:nvPr/>
        </p:nvSpPr>
        <p:spPr>
          <a:xfrm>
            <a:off x="1828800" y="2286000"/>
            <a:ext cx="822960" cy="822960"/>
          </a:xfrm>
          <a:prstGeom prst="oval">
            <a:avLst/>
          </a:prstGeom>
          <a:solidFill>
            <a:srgbClr val="B85042"/>
          </a:solidFill>
          <a:ln/>
        </p:spPr>
      </p:sp>
      <p:sp>
        <p:nvSpPr>
          <p:cNvPr id="9" name="Text 7"/>
          <p:cNvSpPr txBox="1"/>
          <p:nvPr/>
        </p:nvSpPr>
        <p:spPr>
          <a:xfrm>
            <a:off x="1828800" y="2286000"/>
            <a:ext cx="822960" cy="822960"/>
          </a:xfrm>
          <a:prstGeom prst="rect">
            <a:avLst/>
          </a:prstGeom>
          <a:noFill/>
          <a:ln/>
        </p:spPr>
        <p:txBody>
          <a:bodyPr wrap="square" lIns="0" tIns="0" rIns="0" bIns="0" rtlCol="0" anchor="ctr"/>
          <a:lstStyle/>
          <a:p>
            <a:pPr algn="ctr" indent="0" marL="0">
              <a:buNone/>
            </a:pPr>
            <a:r>
              <a:rPr lang="en-US" sz="3000" b="1" dirty="0">
                <a:solidFill>
                  <a:srgbClr val="FBF7F2"/>
                </a:solidFill>
                <a:latin typeface="Cambria" pitchFamily="34" charset="0"/>
                <a:ea typeface="Cambria" pitchFamily="34" charset="-122"/>
                <a:cs typeface="Cambria" pitchFamily="34" charset="-120"/>
              </a:rPr>
              <a:t>G</a:t>
            </a:r>
            <a:endParaRPr lang="en-US" sz="3000" dirty="0"/>
          </a:p>
        </p:txBody>
      </p:sp>
      <p:sp>
        <p:nvSpPr>
          <p:cNvPr id="10" name="Text 8"/>
          <p:cNvSpPr txBox="1"/>
          <p:nvPr/>
        </p:nvSpPr>
        <p:spPr>
          <a:xfrm>
            <a:off x="685800" y="3246120"/>
            <a:ext cx="3108960" cy="457200"/>
          </a:xfrm>
          <a:prstGeom prst="rect">
            <a:avLst/>
          </a:prstGeom>
          <a:noFill/>
          <a:ln/>
        </p:spPr>
        <p:txBody>
          <a:bodyPr wrap="square" lIns="0" tIns="0" rIns="0" bIns="0" rtlCol="0" anchor="ctr"/>
          <a:lstStyle/>
          <a:p>
            <a:pPr algn="ctr" indent="0" marL="0">
              <a:buNone/>
            </a:pPr>
            <a:r>
              <a:rPr lang="en-US" sz="1500" b="1" dirty="0">
                <a:solidFill>
                  <a:srgbClr val="2B1B12"/>
                </a:solidFill>
                <a:latin typeface="Cambria" pitchFamily="34" charset="0"/>
                <a:ea typeface="Cambria" pitchFamily="34" charset="-122"/>
                <a:cs typeface="Cambria" pitchFamily="34" charset="-120"/>
              </a:rPr>
              <a:t>LEED BD+C</a:t>
            </a:r>
            <a:endParaRPr lang="en-US" sz="1500" dirty="0"/>
          </a:p>
        </p:txBody>
      </p:sp>
      <p:sp>
        <p:nvSpPr>
          <p:cNvPr id="11" name="Text 9"/>
          <p:cNvSpPr txBox="1"/>
          <p:nvPr/>
        </p:nvSpPr>
        <p:spPr>
          <a:xfrm>
            <a:off x="685800" y="3657600"/>
            <a:ext cx="3108960" cy="320040"/>
          </a:xfrm>
          <a:prstGeom prst="rect">
            <a:avLst/>
          </a:prstGeom>
          <a:noFill/>
          <a:ln/>
        </p:spPr>
        <p:txBody>
          <a:bodyPr wrap="square" lIns="0" tIns="0" rIns="0" bIns="0" rtlCol="0" anchor="ctr"/>
          <a:lstStyle/>
          <a:p>
            <a:pPr algn="ctr" indent="0" marL="0">
              <a:buNone/>
            </a:pPr>
            <a:r>
              <a:rPr lang="en-US" sz="1000" b="1" spc="200" kern="0" dirty="0">
                <a:solidFill>
                  <a:srgbClr val="B85042"/>
                </a:solidFill>
                <a:latin typeface="Calibri" pitchFamily="34" charset="0"/>
                <a:ea typeface="Calibri" pitchFamily="34" charset="-122"/>
                <a:cs typeface="Calibri" pitchFamily="34" charset="-120"/>
              </a:rPr>
              <a:t>GOLD TARGET</a:t>
            </a:r>
            <a:endParaRPr lang="en-US" sz="1000" dirty="0"/>
          </a:p>
        </p:txBody>
      </p:sp>
      <p:sp>
        <p:nvSpPr>
          <p:cNvPr id="12" name="Shape 10"/>
          <p:cNvSpPr/>
          <p:nvPr/>
        </p:nvSpPr>
        <p:spPr>
          <a:xfrm>
            <a:off x="4251960" y="2011680"/>
            <a:ext cx="3383280" cy="2011680"/>
          </a:xfrm>
          <a:prstGeom prst="roundRect">
            <a:avLst>
              <a:gd name="adj" fmla="val 5455"/>
            </a:avLst>
          </a:prstGeom>
          <a:solidFill>
            <a:srgbClr val="F2E9DD"/>
          </a:solidFill>
          <a:ln w="19050">
            <a:solidFill>
              <a:srgbClr val="B85042"/>
            </a:solidFill>
            <a:prstDash val="solid"/>
          </a:ln>
        </p:spPr>
      </p:sp>
      <p:sp>
        <p:nvSpPr>
          <p:cNvPr id="13" name="Shape 11"/>
          <p:cNvSpPr/>
          <p:nvPr/>
        </p:nvSpPr>
        <p:spPr>
          <a:xfrm>
            <a:off x="5532120" y="2286000"/>
            <a:ext cx="822960" cy="822960"/>
          </a:xfrm>
          <a:prstGeom prst="oval">
            <a:avLst/>
          </a:prstGeom>
          <a:solidFill>
            <a:srgbClr val="B85042"/>
          </a:solidFill>
          <a:ln/>
        </p:spPr>
      </p:sp>
      <p:sp>
        <p:nvSpPr>
          <p:cNvPr id="14" name="Text 12"/>
          <p:cNvSpPr txBox="1"/>
          <p:nvPr/>
        </p:nvSpPr>
        <p:spPr>
          <a:xfrm>
            <a:off x="5532120" y="2286000"/>
            <a:ext cx="822960" cy="822960"/>
          </a:xfrm>
          <a:prstGeom prst="rect">
            <a:avLst/>
          </a:prstGeom>
          <a:noFill/>
          <a:ln/>
        </p:spPr>
        <p:txBody>
          <a:bodyPr wrap="square" lIns="0" tIns="0" rIns="0" bIns="0" rtlCol="0" anchor="ctr"/>
          <a:lstStyle/>
          <a:p>
            <a:pPr algn="ctr" indent="0" marL="0">
              <a:buNone/>
            </a:pPr>
            <a:r>
              <a:rPr lang="en-US" sz="3000" b="1" dirty="0">
                <a:solidFill>
                  <a:srgbClr val="FBF7F2"/>
                </a:solidFill>
                <a:latin typeface="Cambria" pitchFamily="34" charset="0"/>
                <a:ea typeface="Cambria" pitchFamily="34" charset="-122"/>
                <a:cs typeface="Cambria" pitchFamily="34" charset="-120"/>
              </a:rPr>
              <a:t>G</a:t>
            </a:r>
            <a:endParaRPr lang="en-US" sz="3000" dirty="0"/>
          </a:p>
        </p:txBody>
      </p:sp>
      <p:sp>
        <p:nvSpPr>
          <p:cNvPr id="15" name="Text 13"/>
          <p:cNvSpPr txBox="1"/>
          <p:nvPr/>
        </p:nvSpPr>
        <p:spPr>
          <a:xfrm>
            <a:off x="4389120" y="3246120"/>
            <a:ext cx="3108960" cy="457200"/>
          </a:xfrm>
          <a:prstGeom prst="rect">
            <a:avLst/>
          </a:prstGeom>
          <a:noFill/>
          <a:ln/>
        </p:spPr>
        <p:txBody>
          <a:bodyPr wrap="square" lIns="0" tIns="0" rIns="0" bIns="0" rtlCol="0" anchor="ctr"/>
          <a:lstStyle/>
          <a:p>
            <a:pPr algn="ctr" indent="0" marL="0">
              <a:buNone/>
            </a:pPr>
            <a:r>
              <a:rPr lang="en-US" sz="1500" b="1" dirty="0">
                <a:solidFill>
                  <a:srgbClr val="2B1B12"/>
                </a:solidFill>
                <a:latin typeface="Cambria" pitchFamily="34" charset="0"/>
                <a:ea typeface="Cambria" pitchFamily="34" charset="-122"/>
                <a:cs typeface="Cambria" pitchFamily="34" charset="-120"/>
              </a:rPr>
              <a:t>SITES</a:t>
            </a:r>
            <a:endParaRPr lang="en-US" sz="1500" dirty="0"/>
          </a:p>
        </p:txBody>
      </p:sp>
      <p:sp>
        <p:nvSpPr>
          <p:cNvPr id="16" name="Text 14"/>
          <p:cNvSpPr txBox="1"/>
          <p:nvPr/>
        </p:nvSpPr>
        <p:spPr>
          <a:xfrm>
            <a:off x="4389120" y="3657600"/>
            <a:ext cx="3108960" cy="320040"/>
          </a:xfrm>
          <a:prstGeom prst="rect">
            <a:avLst/>
          </a:prstGeom>
          <a:noFill/>
          <a:ln/>
        </p:spPr>
        <p:txBody>
          <a:bodyPr wrap="square" lIns="0" tIns="0" rIns="0" bIns="0" rtlCol="0" anchor="ctr"/>
          <a:lstStyle/>
          <a:p>
            <a:pPr algn="ctr" indent="0" marL="0">
              <a:buNone/>
            </a:pPr>
            <a:r>
              <a:rPr lang="en-US" sz="1000" b="1" spc="200" kern="0" dirty="0">
                <a:solidFill>
                  <a:srgbClr val="B85042"/>
                </a:solidFill>
                <a:latin typeface="Calibri" pitchFamily="34" charset="0"/>
                <a:ea typeface="Calibri" pitchFamily="34" charset="-122"/>
                <a:cs typeface="Calibri" pitchFamily="34" charset="-120"/>
              </a:rPr>
              <a:t>GOLD TARGET</a:t>
            </a:r>
            <a:endParaRPr lang="en-US" sz="1000" dirty="0"/>
          </a:p>
        </p:txBody>
      </p:sp>
      <p:sp>
        <p:nvSpPr>
          <p:cNvPr id="17" name="Shape 15"/>
          <p:cNvSpPr/>
          <p:nvPr/>
        </p:nvSpPr>
        <p:spPr>
          <a:xfrm>
            <a:off x="7955280" y="2011680"/>
            <a:ext cx="3383280" cy="2011680"/>
          </a:xfrm>
          <a:prstGeom prst="roundRect">
            <a:avLst>
              <a:gd name="adj" fmla="val 5455"/>
            </a:avLst>
          </a:prstGeom>
          <a:solidFill>
            <a:srgbClr val="F2E9DD"/>
          </a:solidFill>
          <a:ln w="19050">
            <a:solidFill>
              <a:srgbClr val="B85042"/>
            </a:solidFill>
            <a:prstDash val="solid"/>
          </a:ln>
        </p:spPr>
      </p:sp>
      <p:sp>
        <p:nvSpPr>
          <p:cNvPr id="18" name="Shape 16"/>
          <p:cNvSpPr/>
          <p:nvPr/>
        </p:nvSpPr>
        <p:spPr>
          <a:xfrm>
            <a:off x="9235440" y="2286000"/>
            <a:ext cx="822960" cy="822960"/>
          </a:xfrm>
          <a:prstGeom prst="oval">
            <a:avLst/>
          </a:prstGeom>
          <a:solidFill>
            <a:srgbClr val="B85042"/>
          </a:solidFill>
          <a:ln/>
        </p:spPr>
      </p:sp>
      <p:sp>
        <p:nvSpPr>
          <p:cNvPr id="19" name="Text 17"/>
          <p:cNvSpPr txBox="1"/>
          <p:nvPr/>
        </p:nvSpPr>
        <p:spPr>
          <a:xfrm>
            <a:off x="9235440" y="2286000"/>
            <a:ext cx="822960" cy="822960"/>
          </a:xfrm>
          <a:prstGeom prst="rect">
            <a:avLst/>
          </a:prstGeom>
          <a:noFill/>
          <a:ln/>
        </p:spPr>
        <p:txBody>
          <a:bodyPr wrap="square" lIns="0" tIns="0" rIns="0" bIns="0" rtlCol="0" anchor="ctr"/>
          <a:lstStyle/>
          <a:p>
            <a:pPr algn="ctr" indent="0" marL="0">
              <a:buNone/>
            </a:pPr>
            <a:r>
              <a:rPr lang="en-US" sz="3000" b="1" dirty="0">
                <a:solidFill>
                  <a:srgbClr val="FBF7F2"/>
                </a:solidFill>
                <a:latin typeface="Cambria" pitchFamily="34" charset="0"/>
                <a:ea typeface="Cambria" pitchFamily="34" charset="-122"/>
                <a:cs typeface="Cambria" pitchFamily="34" charset="-120"/>
              </a:rPr>
              <a:t>G</a:t>
            </a:r>
            <a:endParaRPr lang="en-US" sz="3000" dirty="0"/>
          </a:p>
        </p:txBody>
      </p:sp>
      <p:sp>
        <p:nvSpPr>
          <p:cNvPr id="20" name="Text 18"/>
          <p:cNvSpPr txBox="1"/>
          <p:nvPr/>
        </p:nvSpPr>
        <p:spPr>
          <a:xfrm>
            <a:off x="8092440" y="3246120"/>
            <a:ext cx="3108960" cy="457200"/>
          </a:xfrm>
          <a:prstGeom prst="rect">
            <a:avLst/>
          </a:prstGeom>
          <a:noFill/>
          <a:ln/>
        </p:spPr>
        <p:txBody>
          <a:bodyPr wrap="square" lIns="0" tIns="0" rIns="0" bIns="0" rtlCol="0" anchor="ctr"/>
          <a:lstStyle/>
          <a:p>
            <a:pPr algn="ctr" indent="0" marL="0">
              <a:buNone/>
            </a:pPr>
            <a:r>
              <a:rPr lang="en-US" sz="1500" b="1" dirty="0">
                <a:solidFill>
                  <a:srgbClr val="2B1B12"/>
                </a:solidFill>
                <a:latin typeface="Cambria" pitchFamily="34" charset="0"/>
                <a:ea typeface="Cambria" pitchFamily="34" charset="-122"/>
                <a:cs typeface="Cambria" pitchFamily="34" charset="-120"/>
              </a:rPr>
              <a:t>MOSTADAM D+C</a:t>
            </a:r>
            <a:endParaRPr lang="en-US" sz="1500" dirty="0"/>
          </a:p>
        </p:txBody>
      </p:sp>
      <p:sp>
        <p:nvSpPr>
          <p:cNvPr id="21" name="Text 19"/>
          <p:cNvSpPr txBox="1"/>
          <p:nvPr/>
        </p:nvSpPr>
        <p:spPr>
          <a:xfrm>
            <a:off x="8092440" y="3657600"/>
            <a:ext cx="3108960" cy="320040"/>
          </a:xfrm>
          <a:prstGeom prst="rect">
            <a:avLst/>
          </a:prstGeom>
          <a:noFill/>
          <a:ln/>
        </p:spPr>
        <p:txBody>
          <a:bodyPr wrap="square" lIns="0" tIns="0" rIns="0" bIns="0" rtlCol="0" anchor="ctr"/>
          <a:lstStyle/>
          <a:p>
            <a:pPr algn="ctr" indent="0" marL="0">
              <a:buNone/>
            </a:pPr>
            <a:r>
              <a:rPr lang="en-US" sz="1000" b="1" spc="200" kern="0" dirty="0">
                <a:solidFill>
                  <a:srgbClr val="B85042"/>
                </a:solidFill>
                <a:latin typeface="Calibri" pitchFamily="34" charset="0"/>
                <a:ea typeface="Calibri" pitchFamily="34" charset="-122"/>
                <a:cs typeface="Calibri" pitchFamily="34" charset="-120"/>
              </a:rPr>
              <a:t>GOLD TARGET</a:t>
            </a:r>
            <a:endParaRPr lang="en-US" sz="1000" dirty="0"/>
          </a:p>
        </p:txBody>
      </p:sp>
      <p:sp>
        <p:nvSpPr>
          <p:cNvPr id="22" name="Text 20"/>
          <p:cNvSpPr txBox="1"/>
          <p:nvPr/>
        </p:nvSpPr>
        <p:spPr>
          <a:xfrm>
            <a:off x="548640" y="4343400"/>
            <a:ext cx="11064240" cy="1097280"/>
          </a:xfrm>
          <a:prstGeom prst="rect">
            <a:avLst/>
          </a:prstGeom>
          <a:noFill/>
          <a:ln/>
        </p:spPr>
        <p:txBody>
          <a:bodyPr wrap="square" lIns="0" tIns="0" rIns="0" bIns="0" rtlCol="0" anchor="ctr"/>
          <a:lstStyle/>
          <a:p>
            <a:pPr indent="0" marL="0">
              <a:lnSpc>
                <a:spcPct val="130000"/>
              </a:lnSpc>
              <a:buNone/>
            </a:pPr>
            <a:r>
              <a:rPr lang="en-US" sz="1300" dirty="0">
                <a:solidFill>
                  <a:srgbClr val="2B1B12"/>
                </a:solidFill>
                <a:latin typeface="Calibri" pitchFamily="34" charset="0"/>
                <a:ea typeface="Calibri" pitchFamily="34" charset="-122"/>
                <a:cs typeface="Calibri" pitchFamily="34" charset="-120"/>
              </a:rPr>
              <a:t>Achieved through passive design strategies and water conservation measures.  •  Demonstrates commitment to high environmental standards.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7F2"/>
        </a:solidFill>
      </p:bgPr>
    </p:bg>
    <p:spTree>
      <p:nvGrpSpPr>
        <p:cNvPr id="1" name=""/>
        <p:cNvGrpSpPr/>
        <p:nvPr/>
      </p:nvGrpSpPr>
      <p:grpSpPr>
        <a:xfrm>
          <a:off x="0" y="0"/>
          <a:ext cx="0" cy="0"/>
          <a:chOff x="0" y="0"/>
          <a:chExt cx="0" cy="0"/>
        </a:xfrm>
      </p:grpSpPr>
      <p:sp>
        <p:nvSpPr>
          <p:cNvPr id="2" name="Text 0"/>
          <p:cNvSpPr txBox="1"/>
          <p:nvPr/>
        </p:nvSpPr>
        <p:spPr>
          <a:xfrm>
            <a:off x="548640" y="411480"/>
            <a:ext cx="1097280" cy="457200"/>
          </a:xfrm>
          <a:prstGeom prst="rect">
            <a:avLst/>
          </a:prstGeom>
          <a:noFill/>
          <a:ln/>
        </p:spPr>
        <p:txBody>
          <a:bodyPr wrap="square" lIns="0" tIns="0" rIns="0" bIns="0" rtlCol="0" anchor="ctr"/>
          <a:lstStyle/>
          <a:p>
            <a:pPr indent="0" marL="0">
              <a:buNone/>
            </a:pPr>
            <a:r>
              <a:rPr lang="en-US" sz="1400" b="1" dirty="0">
                <a:solidFill>
                  <a:srgbClr val="8FA998"/>
                </a:solidFill>
                <a:latin typeface="Cambria" pitchFamily="34" charset="0"/>
                <a:ea typeface="Cambria" pitchFamily="34" charset="-122"/>
                <a:cs typeface="Cambria" pitchFamily="34" charset="-120"/>
              </a:rPr>
              <a:t>07</a:t>
            </a:r>
            <a:endParaRPr lang="en-US" sz="1400" dirty="0"/>
          </a:p>
        </p:txBody>
      </p:sp>
      <p:sp>
        <p:nvSpPr>
          <p:cNvPr id="3" name="Text 1"/>
          <p:cNvSpPr txBox="1"/>
          <p:nvPr/>
        </p:nvSpPr>
        <p:spPr>
          <a:xfrm>
            <a:off x="548640" y="777240"/>
            <a:ext cx="10881360" cy="777240"/>
          </a:xfrm>
          <a:prstGeom prst="rect">
            <a:avLst/>
          </a:prstGeom>
          <a:noFill/>
          <a:ln/>
        </p:spPr>
        <p:txBody>
          <a:bodyPr wrap="square" lIns="0" tIns="0" rIns="0" bIns="0" rtlCol="0" anchor="ctr"/>
          <a:lstStyle/>
          <a:p>
            <a:pPr indent="0" marL="0">
              <a:buNone/>
            </a:pPr>
            <a:r>
              <a:rPr lang="en-US" sz="3000" b="1" dirty="0">
                <a:solidFill>
                  <a:srgbClr val="2B1B12"/>
                </a:solidFill>
                <a:latin typeface="Cambria" pitchFamily="34" charset="0"/>
                <a:ea typeface="Cambria" pitchFamily="34" charset="-122"/>
                <a:cs typeface="Cambria" pitchFamily="34" charset="-120"/>
              </a:rPr>
              <a:t>User Experience &amp; Interiors</a:t>
            </a:r>
            <a:endParaRPr lang="en-US" sz="3000" dirty="0"/>
          </a:p>
        </p:txBody>
      </p:sp>
      <p:sp>
        <p:nvSpPr>
          <p:cNvPr id="4" name="Shape 2"/>
          <p:cNvSpPr/>
          <p:nvPr/>
        </p:nvSpPr>
        <p:spPr>
          <a:xfrm>
            <a:off x="11064240" y="502920"/>
            <a:ext cx="100584" cy="130759"/>
          </a:xfrm>
          <a:prstGeom prst="triangle">
            <a:avLst/>
          </a:prstGeom>
          <a:solidFill>
            <a:srgbClr val="B85042"/>
          </a:solidFill>
          <a:ln/>
        </p:spPr>
      </p:sp>
      <p:sp>
        <p:nvSpPr>
          <p:cNvPr id="5" name="Shape 3"/>
          <p:cNvSpPr/>
          <p:nvPr/>
        </p:nvSpPr>
        <p:spPr>
          <a:xfrm>
            <a:off x="11192256" y="502920"/>
            <a:ext cx="100584" cy="130759"/>
          </a:xfrm>
          <a:prstGeom prst="triangle">
            <a:avLst/>
          </a:prstGeom>
          <a:solidFill>
            <a:srgbClr val="B85042"/>
          </a:solidFill>
          <a:ln/>
        </p:spPr>
      </p:sp>
      <p:sp>
        <p:nvSpPr>
          <p:cNvPr id="6" name="Shape 4"/>
          <p:cNvSpPr/>
          <p:nvPr/>
        </p:nvSpPr>
        <p:spPr>
          <a:xfrm>
            <a:off x="11320272" y="502920"/>
            <a:ext cx="100584" cy="130759"/>
          </a:xfrm>
          <a:prstGeom prst="triangle">
            <a:avLst/>
          </a:prstGeom>
          <a:solidFill>
            <a:srgbClr val="B85042"/>
          </a:solidFill>
          <a:ln/>
        </p:spPr>
      </p:sp>
      <p:sp>
        <p:nvSpPr>
          <p:cNvPr id="7" name="Text 5"/>
          <p:cNvSpPr txBox="1"/>
          <p:nvPr/>
        </p:nvSpPr>
        <p:spPr>
          <a:xfrm>
            <a:off x="548640" y="1965960"/>
            <a:ext cx="11064240" cy="3657600"/>
          </a:xfrm>
          <a:prstGeom prst="rect">
            <a:avLst/>
          </a:prstGeom>
          <a:noFill/>
          <a:ln/>
        </p:spPr>
        <p:txBody>
          <a:bodyPr wrap="square" lIns="0" tIns="0" rIns="0" bIns="0" rtlCol="0" anchor="t"/>
          <a:lstStyle/>
          <a:p>
            <a:pPr marL="228600" indent="-228600">
              <a:spcAft>
                <a:spcPts val="1400"/>
              </a:spcAft>
              <a:buSzPct val="100000"/>
              <a:buChar char="▪"/>
            </a:pPr>
            <a:r>
              <a:rPr lang="en-US" sz="1600" dirty="0">
                <a:solidFill>
                  <a:srgbClr val="2B1B12"/>
                </a:solidFill>
                <a:latin typeface="Calibri" pitchFamily="34" charset="0"/>
                <a:ea typeface="Calibri" pitchFamily="34" charset="-122"/>
                <a:cs typeface="Calibri" pitchFamily="34" charset="-120"/>
              </a:rPr>
              <a:t>Features luxurious, culturally inspired lobbies as a primary entry experience.</a:t>
            </a:r>
            <a:endParaRPr lang="en-US" sz="1600" dirty="0"/>
          </a:p>
          <a:p>
            <a:pPr marL="228600" indent="-228600">
              <a:spcAft>
                <a:spcPts val="1400"/>
              </a:spcAft>
              <a:buSzPct val="100000"/>
              <a:buChar char="▪"/>
            </a:pPr>
            <a:r>
              <a:rPr lang="en-US" sz="1600" dirty="0">
                <a:solidFill>
                  <a:srgbClr val="2B1B12"/>
                </a:solidFill>
                <a:latin typeface="Calibri" pitchFamily="34" charset="0"/>
                <a:ea typeface="Calibri" pitchFamily="34" charset="-122"/>
                <a:cs typeface="Calibri" pitchFamily="34" charset="-120"/>
              </a:rPr>
              <a:t>Pedestrian-friendly alleyways incorporate traditional lanterns to set the mood.</a:t>
            </a:r>
            <a:endParaRPr lang="en-US" sz="1600" dirty="0"/>
          </a:p>
          <a:p>
            <a:pPr marL="228600" indent="-228600">
              <a:spcAft>
                <a:spcPts val="1400"/>
              </a:spcAft>
              <a:buSzPct val="100000"/>
              <a:buChar char="▪"/>
            </a:pPr>
            <a:r>
              <a:rPr lang="en-US" sz="1600" dirty="0">
                <a:solidFill>
                  <a:srgbClr val="2B1B12"/>
                </a:solidFill>
                <a:latin typeface="Calibri" pitchFamily="34" charset="0"/>
                <a:ea typeface="Calibri" pitchFamily="34" charset="-122"/>
                <a:cs typeface="Calibri" pitchFamily="34" charset="-120"/>
              </a:rPr>
              <a:t>Landscaped pathways at Najdi Center and Boulevard Terraces connect users to the environment.</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7F2"/>
        </a:solidFill>
      </p:bgPr>
    </p:bg>
    <p:spTree>
      <p:nvGrpSpPr>
        <p:cNvPr id="1" name=""/>
        <p:cNvGrpSpPr/>
        <p:nvPr/>
      </p:nvGrpSpPr>
      <p:grpSpPr>
        <a:xfrm>
          <a:off x="0" y="0"/>
          <a:ext cx="0" cy="0"/>
          <a:chOff x="0" y="0"/>
          <a:chExt cx="0" cy="0"/>
        </a:xfrm>
      </p:grpSpPr>
      <p:sp>
        <p:nvSpPr>
          <p:cNvPr id="2" name="Text 0"/>
          <p:cNvSpPr txBox="1"/>
          <p:nvPr/>
        </p:nvSpPr>
        <p:spPr>
          <a:xfrm>
            <a:off x="548640" y="411480"/>
            <a:ext cx="1097280" cy="457200"/>
          </a:xfrm>
          <a:prstGeom prst="rect">
            <a:avLst/>
          </a:prstGeom>
          <a:noFill/>
          <a:ln/>
        </p:spPr>
        <p:txBody>
          <a:bodyPr wrap="square" lIns="0" tIns="0" rIns="0" bIns="0" rtlCol="0" anchor="ctr"/>
          <a:lstStyle/>
          <a:p>
            <a:pPr indent="0" marL="0">
              <a:buNone/>
            </a:pPr>
            <a:r>
              <a:rPr lang="en-US" sz="1400" b="1" dirty="0">
                <a:solidFill>
                  <a:srgbClr val="8FA998"/>
                </a:solidFill>
                <a:latin typeface="Cambria" pitchFamily="34" charset="0"/>
                <a:ea typeface="Cambria" pitchFamily="34" charset="-122"/>
                <a:cs typeface="Cambria" pitchFamily="34" charset="-120"/>
              </a:rPr>
              <a:t>08</a:t>
            </a:r>
            <a:endParaRPr lang="en-US" sz="1400" dirty="0"/>
          </a:p>
        </p:txBody>
      </p:sp>
      <p:sp>
        <p:nvSpPr>
          <p:cNvPr id="3" name="Text 1"/>
          <p:cNvSpPr txBox="1"/>
          <p:nvPr/>
        </p:nvSpPr>
        <p:spPr>
          <a:xfrm>
            <a:off x="548640" y="777240"/>
            <a:ext cx="10881360" cy="777240"/>
          </a:xfrm>
          <a:prstGeom prst="rect">
            <a:avLst/>
          </a:prstGeom>
          <a:noFill/>
          <a:ln/>
        </p:spPr>
        <p:txBody>
          <a:bodyPr wrap="square" lIns="0" tIns="0" rIns="0" bIns="0" rtlCol="0" anchor="ctr"/>
          <a:lstStyle/>
          <a:p>
            <a:pPr indent="0" marL="0">
              <a:buNone/>
            </a:pPr>
            <a:r>
              <a:rPr lang="en-US" sz="3000" b="1" dirty="0">
                <a:solidFill>
                  <a:srgbClr val="2B1B12"/>
                </a:solidFill>
                <a:latin typeface="Cambria" pitchFamily="34" charset="0"/>
                <a:ea typeface="Cambria" pitchFamily="34" charset="-122"/>
                <a:cs typeface="Cambria" pitchFamily="34" charset="-120"/>
              </a:rPr>
              <a:t>Stakeholders &amp; Authority Requirements</a:t>
            </a:r>
            <a:endParaRPr lang="en-US" sz="3000" dirty="0"/>
          </a:p>
        </p:txBody>
      </p:sp>
      <p:sp>
        <p:nvSpPr>
          <p:cNvPr id="4" name="Shape 2"/>
          <p:cNvSpPr/>
          <p:nvPr/>
        </p:nvSpPr>
        <p:spPr>
          <a:xfrm>
            <a:off x="11064240" y="502920"/>
            <a:ext cx="100584" cy="130759"/>
          </a:xfrm>
          <a:prstGeom prst="triangle">
            <a:avLst/>
          </a:prstGeom>
          <a:solidFill>
            <a:srgbClr val="B85042"/>
          </a:solidFill>
          <a:ln/>
        </p:spPr>
      </p:sp>
      <p:sp>
        <p:nvSpPr>
          <p:cNvPr id="5" name="Shape 3"/>
          <p:cNvSpPr/>
          <p:nvPr/>
        </p:nvSpPr>
        <p:spPr>
          <a:xfrm>
            <a:off x="11192256" y="502920"/>
            <a:ext cx="100584" cy="130759"/>
          </a:xfrm>
          <a:prstGeom prst="triangle">
            <a:avLst/>
          </a:prstGeom>
          <a:solidFill>
            <a:srgbClr val="B85042"/>
          </a:solidFill>
          <a:ln/>
        </p:spPr>
      </p:sp>
      <p:sp>
        <p:nvSpPr>
          <p:cNvPr id="6" name="Shape 4"/>
          <p:cNvSpPr/>
          <p:nvPr/>
        </p:nvSpPr>
        <p:spPr>
          <a:xfrm>
            <a:off x="11320272" y="502920"/>
            <a:ext cx="100584" cy="130759"/>
          </a:xfrm>
          <a:prstGeom prst="triangle">
            <a:avLst/>
          </a:prstGeom>
          <a:solidFill>
            <a:srgbClr val="B85042"/>
          </a:solidFill>
          <a:ln/>
        </p:spPr>
      </p:sp>
      <p:sp>
        <p:nvSpPr>
          <p:cNvPr id="7" name="Shape 5"/>
          <p:cNvSpPr/>
          <p:nvPr/>
        </p:nvSpPr>
        <p:spPr>
          <a:xfrm>
            <a:off x="548640" y="1965960"/>
            <a:ext cx="5257800" cy="2377440"/>
          </a:xfrm>
          <a:prstGeom prst="roundRect">
            <a:avLst>
              <a:gd name="adj" fmla="val 4615"/>
            </a:avLst>
          </a:prstGeom>
          <a:solidFill>
            <a:srgbClr val="2B1B12"/>
          </a:solidFill>
          <a:ln/>
        </p:spPr>
      </p:sp>
      <p:sp>
        <p:nvSpPr>
          <p:cNvPr id="8" name="Text 6"/>
          <p:cNvSpPr txBox="1"/>
          <p:nvPr/>
        </p:nvSpPr>
        <p:spPr>
          <a:xfrm>
            <a:off x="868680" y="2240280"/>
            <a:ext cx="4617720" cy="640080"/>
          </a:xfrm>
          <a:prstGeom prst="rect">
            <a:avLst/>
          </a:prstGeom>
          <a:noFill/>
          <a:ln/>
        </p:spPr>
        <p:txBody>
          <a:bodyPr wrap="square" lIns="0" tIns="0" rIns="0" bIns="0" rtlCol="0" anchor="ctr"/>
          <a:lstStyle/>
          <a:p>
            <a:pPr indent="0" marL="0">
              <a:buNone/>
            </a:pPr>
            <a:r>
              <a:rPr lang="en-US" sz="1900" b="1" dirty="0">
                <a:solidFill>
                  <a:srgbClr val="FBF7F2"/>
                </a:solidFill>
                <a:latin typeface="Cambria" pitchFamily="34" charset="0"/>
                <a:ea typeface="Cambria" pitchFamily="34" charset="-122"/>
                <a:cs typeface="Cambria" pitchFamily="34" charset="-120"/>
              </a:rPr>
              <a:t>Ministry of Culture</a:t>
            </a:r>
            <a:endParaRPr lang="en-US" sz="1900" dirty="0"/>
          </a:p>
        </p:txBody>
      </p:sp>
      <p:sp>
        <p:nvSpPr>
          <p:cNvPr id="9" name="Text 7"/>
          <p:cNvSpPr txBox="1"/>
          <p:nvPr/>
        </p:nvSpPr>
        <p:spPr>
          <a:xfrm>
            <a:off x="868680" y="2926080"/>
            <a:ext cx="4617720" cy="1280160"/>
          </a:xfrm>
          <a:prstGeom prst="rect">
            <a:avLst/>
          </a:prstGeom>
          <a:noFill/>
          <a:ln/>
        </p:spPr>
        <p:txBody>
          <a:bodyPr wrap="square" lIns="0" tIns="0" rIns="0" bIns="0" rtlCol="0" anchor="ctr"/>
          <a:lstStyle/>
          <a:p>
            <a:pPr indent="0" marL="0">
              <a:lnSpc>
                <a:spcPct val="130000"/>
              </a:lnSpc>
              <a:buNone/>
            </a:pPr>
            <a:r>
              <a:rPr lang="en-US" sz="1300" dirty="0">
                <a:solidFill>
                  <a:srgbClr val="F2E9DD"/>
                </a:solidFill>
                <a:latin typeface="Calibri" pitchFamily="34" charset="0"/>
                <a:ea typeface="Calibri" pitchFamily="34" charset="-122"/>
                <a:cs typeface="Calibri" pitchFamily="34" charset="-120"/>
              </a:rPr>
              <a:t>Primary approval authority; bridge and HQ office connectivity requirements.</a:t>
            </a:r>
            <a:endParaRPr lang="en-US" sz="1300" dirty="0"/>
          </a:p>
        </p:txBody>
      </p:sp>
      <p:sp>
        <p:nvSpPr>
          <p:cNvPr id="10" name="Shape 8"/>
          <p:cNvSpPr/>
          <p:nvPr/>
        </p:nvSpPr>
        <p:spPr>
          <a:xfrm>
            <a:off x="6126480" y="1965960"/>
            <a:ext cx="5257800" cy="2377440"/>
          </a:xfrm>
          <a:prstGeom prst="roundRect">
            <a:avLst>
              <a:gd name="adj" fmla="val 4615"/>
            </a:avLst>
          </a:prstGeom>
          <a:solidFill>
            <a:srgbClr val="B85042"/>
          </a:solidFill>
          <a:ln/>
        </p:spPr>
      </p:sp>
      <p:sp>
        <p:nvSpPr>
          <p:cNvPr id="11" name="Text 9"/>
          <p:cNvSpPr txBox="1"/>
          <p:nvPr/>
        </p:nvSpPr>
        <p:spPr>
          <a:xfrm>
            <a:off x="6446520" y="2240280"/>
            <a:ext cx="4617720" cy="640080"/>
          </a:xfrm>
          <a:prstGeom prst="rect">
            <a:avLst/>
          </a:prstGeom>
          <a:noFill/>
          <a:ln/>
        </p:spPr>
        <p:txBody>
          <a:bodyPr wrap="square" lIns="0" tIns="0" rIns="0" bIns="0" rtlCol="0" anchor="ctr"/>
          <a:lstStyle/>
          <a:p>
            <a:pPr indent="0" marL="0">
              <a:buNone/>
            </a:pPr>
            <a:r>
              <a:rPr lang="en-US" sz="1900" b="1" dirty="0">
                <a:solidFill>
                  <a:srgbClr val="FBF7F2"/>
                </a:solidFill>
                <a:latin typeface="Cambria" pitchFamily="34" charset="0"/>
                <a:ea typeface="Cambria" pitchFamily="34" charset="-122"/>
                <a:cs typeface="Cambria" pitchFamily="34" charset="-120"/>
              </a:rPr>
              <a:t>Diriyah Development</a:t>
            </a:r>
            <a:endParaRPr lang="en-US" sz="1900" dirty="0"/>
          </a:p>
        </p:txBody>
      </p:sp>
      <p:sp>
        <p:nvSpPr>
          <p:cNvPr id="12" name="Text 10"/>
          <p:cNvSpPr txBox="1"/>
          <p:nvPr/>
        </p:nvSpPr>
        <p:spPr>
          <a:xfrm>
            <a:off x="6446520" y="2926080"/>
            <a:ext cx="4617720" cy="1280160"/>
          </a:xfrm>
          <a:prstGeom prst="rect">
            <a:avLst/>
          </a:prstGeom>
          <a:noFill/>
          <a:ln/>
        </p:spPr>
        <p:txBody>
          <a:bodyPr wrap="square" lIns="0" tIns="0" rIns="0" bIns="0" rtlCol="0" anchor="ctr"/>
          <a:lstStyle/>
          <a:p>
            <a:pPr indent="0" marL="0">
              <a:lnSpc>
                <a:spcPct val="130000"/>
              </a:lnSpc>
              <a:buNone/>
            </a:pPr>
            <a:r>
              <a:rPr lang="en-US" sz="1300" dirty="0">
                <a:solidFill>
                  <a:srgbClr val="F2E9DD"/>
                </a:solidFill>
                <a:latin typeface="Calibri" pitchFamily="34" charset="0"/>
                <a:ea typeface="Calibri" pitchFamily="34" charset="-122"/>
                <a:cs typeface="Calibri" pitchFamily="34" charset="-120"/>
              </a:rPr>
              <a:t>Master-plan compliance, Najdi architectural language, DC design guidelines.</a:t>
            </a:r>
            <a:endParaRPr lang="en-US" sz="1300" dirty="0"/>
          </a:p>
        </p:txBody>
      </p:sp>
      <p:sp>
        <p:nvSpPr>
          <p:cNvPr id="13" name="Text 11"/>
          <p:cNvSpPr txBox="1"/>
          <p:nvPr/>
        </p:nvSpPr>
        <p:spPr>
          <a:xfrm>
            <a:off x="548640" y="4617720"/>
            <a:ext cx="11064240" cy="548640"/>
          </a:xfrm>
          <a:prstGeom prst="rect">
            <a:avLst/>
          </a:prstGeom>
          <a:noFill/>
          <a:ln/>
        </p:spPr>
        <p:txBody>
          <a:bodyPr wrap="square" lIns="0" tIns="0" rIns="0" bIns="0" rtlCol="0" anchor="ctr"/>
          <a:lstStyle/>
          <a:p>
            <a:pPr indent="0" marL="0">
              <a:buNone/>
            </a:pPr>
            <a:r>
              <a:rPr lang="en-US" sz="1300" i="1" dirty="0">
                <a:solidFill>
                  <a:srgbClr val="2B1B12"/>
                </a:solidFill>
                <a:latin typeface="Calibri" pitchFamily="34" charset="0"/>
                <a:ea typeface="Calibri" pitchFamily="34" charset="-122"/>
                <a:cs typeface="Calibri" pitchFamily="34" charset="-120"/>
              </a:rPr>
              <a:t>Mandatory adherence to UNESCO heritage guidelines given proximity to At-Turaif.</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7F2"/>
        </a:solidFill>
      </p:bgPr>
    </p:bg>
    <p:spTree>
      <p:nvGrpSpPr>
        <p:cNvPr id="1" name=""/>
        <p:cNvGrpSpPr/>
        <p:nvPr/>
      </p:nvGrpSpPr>
      <p:grpSpPr>
        <a:xfrm>
          <a:off x="0" y="0"/>
          <a:ext cx="0" cy="0"/>
          <a:chOff x="0" y="0"/>
          <a:chExt cx="0" cy="0"/>
        </a:xfrm>
      </p:grpSpPr>
      <p:sp>
        <p:nvSpPr>
          <p:cNvPr id="2" name="Text 0"/>
          <p:cNvSpPr txBox="1"/>
          <p:nvPr/>
        </p:nvSpPr>
        <p:spPr>
          <a:xfrm>
            <a:off x="548640" y="411480"/>
            <a:ext cx="1097280" cy="457200"/>
          </a:xfrm>
          <a:prstGeom prst="rect">
            <a:avLst/>
          </a:prstGeom>
          <a:noFill/>
          <a:ln/>
        </p:spPr>
        <p:txBody>
          <a:bodyPr wrap="square" lIns="0" tIns="0" rIns="0" bIns="0" rtlCol="0" anchor="ctr"/>
          <a:lstStyle/>
          <a:p>
            <a:pPr indent="0" marL="0">
              <a:buNone/>
            </a:pPr>
            <a:r>
              <a:rPr lang="en-US" sz="1400" b="1" dirty="0">
                <a:solidFill>
                  <a:srgbClr val="8FA998"/>
                </a:solidFill>
                <a:latin typeface="Cambria" pitchFamily="34" charset="0"/>
                <a:ea typeface="Cambria" pitchFamily="34" charset="-122"/>
                <a:cs typeface="Cambria" pitchFamily="34" charset="-120"/>
              </a:rPr>
              <a:t>09</a:t>
            </a:r>
            <a:endParaRPr lang="en-US" sz="1400" dirty="0"/>
          </a:p>
        </p:txBody>
      </p:sp>
      <p:sp>
        <p:nvSpPr>
          <p:cNvPr id="3" name="Text 1"/>
          <p:cNvSpPr txBox="1"/>
          <p:nvPr/>
        </p:nvSpPr>
        <p:spPr>
          <a:xfrm>
            <a:off x="548640" y="777240"/>
            <a:ext cx="10881360" cy="777240"/>
          </a:xfrm>
          <a:prstGeom prst="rect">
            <a:avLst/>
          </a:prstGeom>
          <a:noFill/>
          <a:ln/>
        </p:spPr>
        <p:txBody>
          <a:bodyPr wrap="square" lIns="0" tIns="0" rIns="0" bIns="0" rtlCol="0" anchor="ctr"/>
          <a:lstStyle/>
          <a:p>
            <a:pPr indent="0" marL="0">
              <a:buNone/>
            </a:pPr>
            <a:r>
              <a:rPr lang="en-US" sz="3000" b="1" dirty="0">
                <a:solidFill>
                  <a:srgbClr val="2B1B12"/>
                </a:solidFill>
                <a:latin typeface="Cambria" pitchFamily="34" charset="0"/>
                <a:ea typeface="Cambria" pitchFamily="34" charset="-122"/>
                <a:cs typeface="Cambria" pitchFamily="34" charset="-120"/>
              </a:rPr>
              <a:t>Design Evolution &amp; Details</a:t>
            </a:r>
            <a:endParaRPr lang="en-US" sz="3000" dirty="0"/>
          </a:p>
        </p:txBody>
      </p:sp>
      <p:sp>
        <p:nvSpPr>
          <p:cNvPr id="4" name="Shape 2"/>
          <p:cNvSpPr/>
          <p:nvPr/>
        </p:nvSpPr>
        <p:spPr>
          <a:xfrm>
            <a:off x="11064240" y="502920"/>
            <a:ext cx="100584" cy="130759"/>
          </a:xfrm>
          <a:prstGeom prst="triangle">
            <a:avLst/>
          </a:prstGeom>
          <a:solidFill>
            <a:srgbClr val="B85042"/>
          </a:solidFill>
          <a:ln/>
        </p:spPr>
      </p:sp>
      <p:sp>
        <p:nvSpPr>
          <p:cNvPr id="5" name="Shape 3"/>
          <p:cNvSpPr/>
          <p:nvPr/>
        </p:nvSpPr>
        <p:spPr>
          <a:xfrm>
            <a:off x="11192256" y="502920"/>
            <a:ext cx="100584" cy="130759"/>
          </a:xfrm>
          <a:prstGeom prst="triangle">
            <a:avLst/>
          </a:prstGeom>
          <a:solidFill>
            <a:srgbClr val="B85042"/>
          </a:solidFill>
          <a:ln/>
        </p:spPr>
      </p:sp>
      <p:sp>
        <p:nvSpPr>
          <p:cNvPr id="6" name="Shape 4"/>
          <p:cNvSpPr/>
          <p:nvPr/>
        </p:nvSpPr>
        <p:spPr>
          <a:xfrm>
            <a:off x="11320272" y="502920"/>
            <a:ext cx="100584" cy="130759"/>
          </a:xfrm>
          <a:prstGeom prst="triangle">
            <a:avLst/>
          </a:prstGeom>
          <a:solidFill>
            <a:srgbClr val="B85042"/>
          </a:solidFill>
          <a:ln/>
        </p:spPr>
      </p:sp>
      <p:sp>
        <p:nvSpPr>
          <p:cNvPr id="7" name="Shape 5"/>
          <p:cNvSpPr/>
          <p:nvPr/>
        </p:nvSpPr>
        <p:spPr>
          <a:xfrm>
            <a:off x="548640" y="2194560"/>
            <a:ext cx="3429000" cy="1920240"/>
          </a:xfrm>
          <a:prstGeom prst="roundRect">
            <a:avLst>
              <a:gd name="adj" fmla="val 4762"/>
            </a:avLst>
          </a:prstGeom>
          <a:solidFill>
            <a:srgbClr val="F2E9DD"/>
          </a:solidFill>
          <a:ln/>
        </p:spPr>
      </p:sp>
      <p:sp>
        <p:nvSpPr>
          <p:cNvPr id="8" name="Text 6"/>
          <p:cNvSpPr txBox="1"/>
          <p:nvPr/>
        </p:nvSpPr>
        <p:spPr>
          <a:xfrm>
            <a:off x="777240" y="2377440"/>
            <a:ext cx="640080" cy="640080"/>
          </a:xfrm>
          <a:prstGeom prst="rect">
            <a:avLst/>
          </a:prstGeom>
          <a:noFill/>
          <a:ln/>
        </p:spPr>
        <p:txBody>
          <a:bodyPr wrap="square" lIns="0" tIns="0" rIns="0" bIns="0" rtlCol="0" anchor="ctr"/>
          <a:lstStyle/>
          <a:p>
            <a:pPr indent="0" marL="0">
              <a:buNone/>
            </a:pPr>
            <a:r>
              <a:rPr lang="en-US" sz="3000" b="1" dirty="0">
                <a:solidFill>
                  <a:srgbClr val="B85042"/>
                </a:solidFill>
                <a:latin typeface="Cambria" pitchFamily="34" charset="0"/>
                <a:ea typeface="Cambria" pitchFamily="34" charset="-122"/>
                <a:cs typeface="Cambria" pitchFamily="34" charset="-120"/>
              </a:rPr>
              <a:t>1</a:t>
            </a:r>
            <a:endParaRPr lang="en-US" sz="3000" dirty="0"/>
          </a:p>
        </p:txBody>
      </p:sp>
      <p:sp>
        <p:nvSpPr>
          <p:cNvPr id="9" name="Text 7"/>
          <p:cNvSpPr txBox="1"/>
          <p:nvPr/>
        </p:nvSpPr>
        <p:spPr>
          <a:xfrm>
            <a:off x="777240" y="3108960"/>
            <a:ext cx="2971800" cy="914400"/>
          </a:xfrm>
          <a:prstGeom prst="rect">
            <a:avLst/>
          </a:prstGeom>
          <a:noFill/>
          <a:ln/>
        </p:spPr>
        <p:txBody>
          <a:bodyPr wrap="square" lIns="0" tIns="0" rIns="0" bIns="0" rtlCol="0" anchor="ctr"/>
          <a:lstStyle/>
          <a:p>
            <a:pPr indent="0" marL="0">
              <a:lnSpc>
                <a:spcPct val="125000"/>
              </a:lnSpc>
              <a:buNone/>
            </a:pPr>
            <a:r>
              <a:rPr lang="en-US" sz="1300" dirty="0">
                <a:solidFill>
                  <a:srgbClr val="2B1B12"/>
                </a:solidFill>
                <a:latin typeface="Calibri" pitchFamily="34" charset="0"/>
                <a:ea typeface="Calibri" pitchFamily="34" charset="-122"/>
                <a:cs typeface="Calibri" pitchFamily="34" charset="-120"/>
              </a:rPr>
              <a:t>Simple block massing</a:t>
            </a:r>
            <a:endParaRPr lang="en-US" sz="1300" dirty="0"/>
          </a:p>
        </p:txBody>
      </p:sp>
      <p:sp>
        <p:nvSpPr>
          <p:cNvPr id="10" name="Shape 8"/>
          <p:cNvSpPr/>
          <p:nvPr/>
        </p:nvSpPr>
        <p:spPr>
          <a:xfrm>
            <a:off x="3995928" y="2971800"/>
            <a:ext cx="274320" cy="365760"/>
          </a:xfrm>
          <a:prstGeom prst="rightArrow">
            <a:avLst/>
          </a:prstGeom>
          <a:solidFill>
            <a:srgbClr val="B85042"/>
          </a:solidFill>
          <a:ln/>
        </p:spPr>
      </p:sp>
      <p:sp>
        <p:nvSpPr>
          <p:cNvPr id="11" name="Shape 9"/>
          <p:cNvSpPr/>
          <p:nvPr/>
        </p:nvSpPr>
        <p:spPr>
          <a:xfrm>
            <a:off x="4297680" y="2194560"/>
            <a:ext cx="3429000" cy="1920240"/>
          </a:xfrm>
          <a:prstGeom prst="roundRect">
            <a:avLst>
              <a:gd name="adj" fmla="val 4762"/>
            </a:avLst>
          </a:prstGeom>
          <a:solidFill>
            <a:srgbClr val="F2E9DD"/>
          </a:solidFill>
          <a:ln/>
        </p:spPr>
      </p:sp>
      <p:sp>
        <p:nvSpPr>
          <p:cNvPr id="12" name="Text 10"/>
          <p:cNvSpPr txBox="1"/>
          <p:nvPr/>
        </p:nvSpPr>
        <p:spPr>
          <a:xfrm>
            <a:off x="4526280" y="2377440"/>
            <a:ext cx="640080" cy="640080"/>
          </a:xfrm>
          <a:prstGeom prst="rect">
            <a:avLst/>
          </a:prstGeom>
          <a:noFill/>
          <a:ln/>
        </p:spPr>
        <p:txBody>
          <a:bodyPr wrap="square" lIns="0" tIns="0" rIns="0" bIns="0" rtlCol="0" anchor="ctr"/>
          <a:lstStyle/>
          <a:p>
            <a:pPr indent="0" marL="0">
              <a:buNone/>
            </a:pPr>
            <a:r>
              <a:rPr lang="en-US" sz="3000" b="1" dirty="0">
                <a:solidFill>
                  <a:srgbClr val="B85042"/>
                </a:solidFill>
                <a:latin typeface="Cambria" pitchFamily="34" charset="0"/>
                <a:ea typeface="Cambria" pitchFamily="34" charset="-122"/>
                <a:cs typeface="Cambria" pitchFamily="34" charset="-120"/>
              </a:rPr>
              <a:t>2</a:t>
            </a:r>
            <a:endParaRPr lang="en-US" sz="3000" dirty="0"/>
          </a:p>
        </p:txBody>
      </p:sp>
      <p:sp>
        <p:nvSpPr>
          <p:cNvPr id="13" name="Text 11"/>
          <p:cNvSpPr txBox="1"/>
          <p:nvPr/>
        </p:nvSpPr>
        <p:spPr>
          <a:xfrm>
            <a:off x="4526280" y="3108960"/>
            <a:ext cx="2971800" cy="914400"/>
          </a:xfrm>
          <a:prstGeom prst="rect">
            <a:avLst/>
          </a:prstGeom>
          <a:noFill/>
          <a:ln/>
        </p:spPr>
        <p:txBody>
          <a:bodyPr wrap="square" lIns="0" tIns="0" rIns="0" bIns="0" rtlCol="0" anchor="ctr"/>
          <a:lstStyle/>
          <a:p>
            <a:pPr indent="0" marL="0">
              <a:lnSpc>
                <a:spcPct val="125000"/>
              </a:lnSpc>
              <a:buNone/>
            </a:pPr>
            <a:r>
              <a:rPr lang="en-US" sz="1300" dirty="0">
                <a:solidFill>
                  <a:srgbClr val="2B1B12"/>
                </a:solidFill>
                <a:latin typeface="Calibri" pitchFamily="34" charset="0"/>
                <a:ea typeface="Calibri" pitchFamily="34" charset="-122"/>
                <a:cs typeface="Calibri" pitchFamily="34" charset="-120"/>
              </a:rPr>
              <a:t>Facade articulation &amp; courtyard definition</a:t>
            </a:r>
            <a:endParaRPr lang="en-US" sz="1300" dirty="0"/>
          </a:p>
        </p:txBody>
      </p:sp>
      <p:sp>
        <p:nvSpPr>
          <p:cNvPr id="14" name="Shape 12"/>
          <p:cNvSpPr/>
          <p:nvPr/>
        </p:nvSpPr>
        <p:spPr>
          <a:xfrm>
            <a:off x="7744968" y="2971800"/>
            <a:ext cx="274320" cy="365760"/>
          </a:xfrm>
          <a:prstGeom prst="rightArrow">
            <a:avLst/>
          </a:prstGeom>
          <a:solidFill>
            <a:srgbClr val="B85042"/>
          </a:solidFill>
          <a:ln/>
        </p:spPr>
      </p:sp>
      <p:sp>
        <p:nvSpPr>
          <p:cNvPr id="15" name="Shape 13"/>
          <p:cNvSpPr/>
          <p:nvPr/>
        </p:nvSpPr>
        <p:spPr>
          <a:xfrm>
            <a:off x="8046720" y="2194560"/>
            <a:ext cx="3429000" cy="1920240"/>
          </a:xfrm>
          <a:prstGeom prst="roundRect">
            <a:avLst>
              <a:gd name="adj" fmla="val 4762"/>
            </a:avLst>
          </a:prstGeom>
          <a:solidFill>
            <a:srgbClr val="F2E9DD"/>
          </a:solidFill>
          <a:ln/>
        </p:spPr>
      </p:sp>
      <p:sp>
        <p:nvSpPr>
          <p:cNvPr id="16" name="Text 14"/>
          <p:cNvSpPr txBox="1"/>
          <p:nvPr/>
        </p:nvSpPr>
        <p:spPr>
          <a:xfrm>
            <a:off x="8275320" y="2377440"/>
            <a:ext cx="640080" cy="640080"/>
          </a:xfrm>
          <a:prstGeom prst="rect">
            <a:avLst/>
          </a:prstGeom>
          <a:noFill/>
          <a:ln/>
        </p:spPr>
        <p:txBody>
          <a:bodyPr wrap="square" lIns="0" tIns="0" rIns="0" bIns="0" rtlCol="0" anchor="ctr"/>
          <a:lstStyle/>
          <a:p>
            <a:pPr indent="0" marL="0">
              <a:buNone/>
            </a:pPr>
            <a:r>
              <a:rPr lang="en-US" sz="3000" b="1" dirty="0">
                <a:solidFill>
                  <a:srgbClr val="B85042"/>
                </a:solidFill>
                <a:latin typeface="Cambria" pitchFamily="34" charset="0"/>
                <a:ea typeface="Cambria" pitchFamily="34" charset="-122"/>
                <a:cs typeface="Cambria" pitchFamily="34" charset="-120"/>
              </a:rPr>
              <a:t>3</a:t>
            </a:r>
            <a:endParaRPr lang="en-US" sz="3000" dirty="0"/>
          </a:p>
        </p:txBody>
      </p:sp>
      <p:sp>
        <p:nvSpPr>
          <p:cNvPr id="17" name="Text 15"/>
          <p:cNvSpPr txBox="1"/>
          <p:nvPr/>
        </p:nvSpPr>
        <p:spPr>
          <a:xfrm>
            <a:off x="8275320" y="3108960"/>
            <a:ext cx="2971800" cy="914400"/>
          </a:xfrm>
          <a:prstGeom prst="rect">
            <a:avLst/>
          </a:prstGeom>
          <a:noFill/>
          <a:ln/>
        </p:spPr>
        <p:txBody>
          <a:bodyPr wrap="square" lIns="0" tIns="0" rIns="0" bIns="0" rtlCol="0" anchor="ctr"/>
          <a:lstStyle/>
          <a:p>
            <a:pPr indent="0" marL="0">
              <a:lnSpc>
                <a:spcPct val="125000"/>
              </a:lnSpc>
              <a:buNone/>
            </a:pPr>
            <a:r>
              <a:rPr lang="en-US" sz="1300" dirty="0">
                <a:solidFill>
                  <a:srgbClr val="2B1B12"/>
                </a:solidFill>
                <a:latin typeface="Calibri" pitchFamily="34" charset="0"/>
                <a:ea typeface="Calibri" pitchFamily="34" charset="-122"/>
                <a:cs typeface="Calibri" pitchFamily="34" charset="-120"/>
              </a:rPr>
              <a:t>Najdi texture &amp; material integration</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B1B12"/>
        </a:solidFill>
      </p:bgPr>
    </p:bg>
    <p:spTree>
      <p:nvGrpSpPr>
        <p:cNvPr id="1" name=""/>
        <p:cNvGrpSpPr/>
        <p:nvPr/>
      </p:nvGrpSpPr>
      <p:grpSpPr>
        <a:xfrm>
          <a:off x="0" y="0"/>
          <a:ext cx="0" cy="0"/>
          <a:chOff x="0" y="0"/>
          <a:chExt cx="0" cy="0"/>
        </a:xfrm>
      </p:grpSpPr>
      <p:sp>
        <p:nvSpPr>
          <p:cNvPr id="2" name="Shape 0"/>
          <p:cNvSpPr/>
          <p:nvPr/>
        </p:nvSpPr>
        <p:spPr>
          <a:xfrm>
            <a:off x="548640" y="548640"/>
            <a:ext cx="100584" cy="130759"/>
          </a:xfrm>
          <a:prstGeom prst="triangle">
            <a:avLst/>
          </a:prstGeom>
          <a:solidFill>
            <a:srgbClr val="B85042"/>
          </a:solidFill>
          <a:ln/>
        </p:spPr>
      </p:sp>
      <p:sp>
        <p:nvSpPr>
          <p:cNvPr id="3" name="Shape 1"/>
          <p:cNvSpPr/>
          <p:nvPr/>
        </p:nvSpPr>
        <p:spPr>
          <a:xfrm>
            <a:off x="676656" y="548640"/>
            <a:ext cx="100584" cy="130759"/>
          </a:xfrm>
          <a:prstGeom prst="triangle">
            <a:avLst/>
          </a:prstGeom>
          <a:solidFill>
            <a:srgbClr val="B85042"/>
          </a:solidFill>
          <a:ln/>
        </p:spPr>
      </p:sp>
      <p:sp>
        <p:nvSpPr>
          <p:cNvPr id="4" name="Shape 2"/>
          <p:cNvSpPr/>
          <p:nvPr/>
        </p:nvSpPr>
        <p:spPr>
          <a:xfrm>
            <a:off x="804672" y="548640"/>
            <a:ext cx="100584" cy="130759"/>
          </a:xfrm>
          <a:prstGeom prst="triangle">
            <a:avLst/>
          </a:prstGeom>
          <a:solidFill>
            <a:srgbClr val="B85042"/>
          </a:solidFill>
          <a:ln/>
        </p:spPr>
      </p:sp>
      <p:sp>
        <p:nvSpPr>
          <p:cNvPr id="5" name="Shape 3"/>
          <p:cNvSpPr/>
          <p:nvPr/>
        </p:nvSpPr>
        <p:spPr>
          <a:xfrm>
            <a:off x="932688" y="548640"/>
            <a:ext cx="100584" cy="130759"/>
          </a:xfrm>
          <a:prstGeom prst="triangle">
            <a:avLst/>
          </a:prstGeom>
          <a:solidFill>
            <a:srgbClr val="B85042"/>
          </a:solidFill>
          <a:ln/>
        </p:spPr>
      </p:sp>
      <p:sp>
        <p:nvSpPr>
          <p:cNvPr id="6" name="Shape 4"/>
          <p:cNvSpPr/>
          <p:nvPr/>
        </p:nvSpPr>
        <p:spPr>
          <a:xfrm>
            <a:off x="1060704" y="548640"/>
            <a:ext cx="100584" cy="130759"/>
          </a:xfrm>
          <a:prstGeom prst="triangle">
            <a:avLst/>
          </a:prstGeom>
          <a:solidFill>
            <a:srgbClr val="B85042"/>
          </a:solidFill>
          <a:ln/>
        </p:spPr>
      </p:sp>
      <p:sp>
        <p:nvSpPr>
          <p:cNvPr id="7" name="Shape 5"/>
          <p:cNvSpPr/>
          <p:nvPr/>
        </p:nvSpPr>
        <p:spPr>
          <a:xfrm>
            <a:off x="1188720" y="548640"/>
            <a:ext cx="100584" cy="130759"/>
          </a:xfrm>
          <a:prstGeom prst="triangle">
            <a:avLst/>
          </a:prstGeom>
          <a:solidFill>
            <a:srgbClr val="B85042"/>
          </a:solidFill>
          <a:ln/>
        </p:spPr>
      </p:sp>
      <p:sp>
        <p:nvSpPr>
          <p:cNvPr id="8" name="Text 6"/>
          <p:cNvSpPr txBox="1"/>
          <p:nvPr/>
        </p:nvSpPr>
        <p:spPr>
          <a:xfrm>
            <a:off x="548640" y="1188720"/>
            <a:ext cx="11064240" cy="777240"/>
          </a:xfrm>
          <a:prstGeom prst="rect">
            <a:avLst/>
          </a:prstGeom>
          <a:noFill/>
          <a:ln/>
        </p:spPr>
        <p:txBody>
          <a:bodyPr wrap="square" lIns="0" tIns="0" rIns="0" bIns="0" rtlCol="0" anchor="ctr"/>
          <a:lstStyle/>
          <a:p>
            <a:pPr indent="0" marL="0">
              <a:buNone/>
            </a:pPr>
            <a:r>
              <a:rPr lang="en-US" sz="3000" b="1" dirty="0">
                <a:solidFill>
                  <a:srgbClr val="FBF7F2"/>
                </a:solidFill>
                <a:latin typeface="Cambria" pitchFamily="34" charset="0"/>
                <a:ea typeface="Cambria" pitchFamily="34" charset="-122"/>
                <a:cs typeface="Cambria" pitchFamily="34" charset="-120"/>
              </a:rPr>
              <a:t>Summary &amp; Next Steps</a:t>
            </a:r>
            <a:endParaRPr lang="en-US" sz="3000" dirty="0"/>
          </a:p>
        </p:txBody>
      </p:sp>
      <p:sp>
        <p:nvSpPr>
          <p:cNvPr id="9" name="Text 7"/>
          <p:cNvSpPr txBox="1"/>
          <p:nvPr/>
        </p:nvSpPr>
        <p:spPr>
          <a:xfrm>
            <a:off x="548640" y="2194560"/>
            <a:ext cx="10607040" cy="3931920"/>
          </a:xfrm>
          <a:prstGeom prst="rect">
            <a:avLst/>
          </a:prstGeom>
          <a:noFill/>
          <a:ln/>
        </p:spPr>
        <p:txBody>
          <a:bodyPr wrap="square" lIns="0" tIns="0" rIns="0" bIns="0" rtlCol="0" anchor="t"/>
          <a:lstStyle/>
          <a:p>
            <a:pPr marL="228600" indent="-228600">
              <a:spcAft>
                <a:spcPts val="1600"/>
              </a:spcAft>
              <a:buSzPct val="100000"/>
              <a:buChar char="▪"/>
            </a:pPr>
            <a:r>
              <a:rPr lang="en-US" sz="1500" dirty="0">
                <a:solidFill>
                  <a:srgbClr val="F2E9DD"/>
                </a:solidFill>
                <a:latin typeface="Calibri" pitchFamily="34" charset="0"/>
                <a:ea typeface="Calibri" pitchFamily="34" charset="-122"/>
                <a:cs typeface="Calibri" pitchFamily="34" charset="-120"/>
              </a:rPr>
              <a:t>Success requires integrating Najdi aesthetics (mud-brick, courtyards, Sharfat) with modern commercial needs.</a:t>
            </a:r>
            <a:endParaRPr lang="en-US" sz="1500" dirty="0"/>
          </a:p>
          <a:p>
            <a:pPr marL="228600" indent="-228600">
              <a:spcAft>
                <a:spcPts val="1600"/>
              </a:spcAft>
              <a:buSzPct val="100000"/>
              <a:buChar char="▪"/>
            </a:pPr>
            <a:r>
              <a:rPr lang="en-US" sz="1500" dirty="0">
                <a:solidFill>
                  <a:srgbClr val="F2E9DD"/>
                </a:solidFill>
                <a:latin typeface="Calibri" pitchFamily="34" charset="0"/>
                <a:ea typeface="Calibri" pitchFamily="34" charset="-122"/>
                <a:cs typeface="Calibri" pitchFamily="34" charset="-120"/>
              </a:rPr>
              <a:t>Mandatory outcome: Achieve Gold certifications for LEED BD+C, SITES, and MOSTADAM D+C.</a:t>
            </a:r>
            <a:endParaRPr lang="en-US" sz="1500" dirty="0"/>
          </a:p>
          <a:p>
            <a:pPr marL="228600" indent="-228600">
              <a:spcAft>
                <a:spcPts val="1600"/>
              </a:spcAft>
              <a:buSzPct val="100000"/>
              <a:buChar char="▪"/>
            </a:pPr>
            <a:r>
              <a:rPr lang="en-US" sz="1500" dirty="0">
                <a:solidFill>
                  <a:srgbClr val="F2E9DD"/>
                </a:solidFill>
                <a:latin typeface="Calibri" pitchFamily="34" charset="0"/>
                <a:ea typeface="Calibri" pitchFamily="34" charset="-122"/>
                <a:cs typeface="Calibri" pitchFamily="34" charset="-120"/>
              </a:rPr>
              <a:t>Critical unknowns requiring resolution: specific building dimensions and GSM integration details.</a:t>
            </a:r>
            <a:endParaRPr lang="en-US" sz="1500" dirty="0"/>
          </a:p>
          <a:p>
            <a:pPr marL="228600" indent="-228600">
              <a:spcAft>
                <a:spcPts val="1600"/>
              </a:spcAft>
              <a:buSzPct val="100000"/>
              <a:buChar char="▪"/>
            </a:pPr>
            <a:r>
              <a:rPr lang="en-US" sz="1500" dirty="0">
                <a:solidFill>
                  <a:srgbClr val="F2E9DD"/>
                </a:solidFill>
                <a:latin typeface="Calibri" pitchFamily="34" charset="0"/>
                <a:ea typeface="Calibri" pitchFamily="34" charset="-122"/>
                <a:cs typeface="Calibri" pitchFamily="34" charset="-120"/>
              </a:rPr>
              <a:t>See Page 23 (Open Questions) for full list of pending clarifications.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2026-09-09T10:28:56Z</dcterms:created>
  <dcterms:modified xsi:type="dcterms:W3CDTF">2026-09-09T10:28:56Z</dcterms:modified>
</cp:coreProperties>
</file>